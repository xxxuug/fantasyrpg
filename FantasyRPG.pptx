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7" r:id="rId1"/>
  </p:sldMasterIdLst>
  <p:notesMasterIdLst>
    <p:notesMasterId r:id="rId17"/>
  </p:notesMasterIdLst>
  <p:sldIdLst>
    <p:sldId id="256" r:id="rId2"/>
    <p:sldId id="257" r:id="rId3"/>
    <p:sldId id="267" r:id="rId4"/>
    <p:sldId id="258" r:id="rId5"/>
    <p:sldId id="269" r:id="rId6"/>
    <p:sldId id="259" r:id="rId7"/>
    <p:sldId id="268" r:id="rId8"/>
    <p:sldId id="260" r:id="rId9"/>
    <p:sldId id="261" r:id="rId10"/>
    <p:sldId id="262" r:id="rId11"/>
    <p:sldId id="263" r:id="rId12"/>
    <p:sldId id="270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retendard" panose="02000503000000020004" pitchFamily="2" charset="-127"/>
      <p:regular r:id="rId18"/>
      <p:bold r:id="rId19"/>
    </p:embeddedFont>
    <p:embeddedFont>
      <p:font typeface="Pretendard Bold" panose="02000803000000020004" pitchFamily="2" charset="-127"/>
      <p:bold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맑은 고딕" panose="020B0503020000020004" pitchFamily="50" charset="-127"/>
      <p:regular r:id="rId25"/>
      <p:bold r:id="rId26"/>
    </p:embeddedFont>
    <p:embeddedFont>
      <p:font typeface="Pretendard Black" panose="02000A03000000020004" pitchFamily="2" charset="-127"/>
      <p:bold r:id="rId27"/>
    </p:embeddedFont>
    <p:embeddedFont>
      <p:font typeface="Pretendard Light" panose="02000403000000020004" pitchFamily="2" charset="-127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orient="horz" pos="2156" userDrawn="1">
          <p15:clr>
            <a:srgbClr val="A4A3A4"/>
          </p15:clr>
        </p15:guide>
        <p15:guide id="1" pos="28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napToObjects="1">
      <p:cViewPr varScale="1">
        <p:scale>
          <a:sx n="71" d="100"/>
          <a:sy n="71" d="100"/>
        </p:scale>
        <p:origin x="636" y="66"/>
      </p:cViewPr>
      <p:guideLst>
        <p:guide orient="horz" pos="2156"/>
        <p:guide pos="28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23604F-B249-4216-ADF4-F663DF7F1209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FC710D-D2D7-4DF5-8EB1-5D929E6303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0495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FC710D-D2D7-4DF5-8EB1-5D929E6303F9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92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EED46-EC84-449F-B6B1-53E41DC13677}" type="datetime1">
              <a:rPr lang="en-US" altLang="ko-KR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E585F-FADC-4371-ACAC-5ECC8E6FD325}" type="datetime1">
              <a:rPr lang="en-US" altLang="ko-KR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34BEE-EA0A-4587-9E23-C72FC6C6428D}" type="datetime1">
              <a:rPr lang="en-US" altLang="ko-KR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434DD-D150-4182-A2F9-FC2E4AAD3A8B}" type="datetime1">
              <a:rPr lang="en-US" altLang="ko-KR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E44F0-9E50-4455-ADA7-0F2E863FA70A}" type="datetime1">
              <a:rPr lang="en-US" altLang="ko-KR" smtClean="0"/>
              <a:t>6/18/2025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4BEC5-B65C-4BE8-946A-3D5779946E1D}" type="datetime1">
              <a:rPr lang="en-US" altLang="ko-KR" smtClean="0"/>
              <a:t>6/18/2025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7909E-4B92-49E3-9B5A-0B53308AED49}" type="datetime1">
              <a:rPr lang="en-US" altLang="ko-KR" smtClean="0"/>
              <a:t>6/18/2025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3944600" y="9639300"/>
            <a:ext cx="4114800" cy="441325"/>
          </a:xfrm>
        </p:spPr>
        <p:txBody>
          <a:bodyPr/>
          <a:lstStyle>
            <a:lvl1pPr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smtClean="0"/>
              <a:t>FantasyRPG PortFolio </a:t>
            </a:r>
            <a:fld id="{B6F15528-21DE-4FAA-801E-634DDDAF4B2B}" type="slidenum">
              <a:rPr lang="en-US" smtClean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pPr/>
              <a:t>‹#›</a:t>
            </a:fld>
            <a:endParaRPr lang="en-US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D141A-EC35-4C2F-94DB-260D67480FEF}" type="datetime1">
              <a:rPr lang="en-US" altLang="ko-KR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EBAB-3692-4ECB-A29A-680BE0BB26C2}" type="datetime1">
              <a:rPr lang="en-US" altLang="ko-KR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939C8-41B6-4930-80E9-FDE45B02B992}" type="datetime1">
              <a:rPr lang="en-US" altLang="ko-KR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461BB-73DC-4134-97D1-7C131809923B}" type="datetime1">
              <a:rPr lang="en-US" altLang="ko-KR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BB7B4-1BBA-4F36-B791-E21C5C541A3A}" type="datetime1">
              <a:rPr lang="en-US" altLang="ko-KR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youtu.be/1c9b0wjhrLw" TargetMode="External"/><Relationship Id="rId4" Type="http://schemas.openxmlformats.org/officeDocument/2006/relationships/hyperlink" Target="https://github.com/xxxuug/FantasyRPG.git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35450" y="3248212"/>
            <a:ext cx="9804400" cy="3962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13000" b="0" i="0" u="none" strike="noStrike" spc="-3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FantasyRPG</a:t>
            </a:r>
          </a:p>
          <a:p>
            <a:pPr lvl="0" algn="ctr">
              <a:lnSpc>
                <a:spcPct val="83000"/>
              </a:lnSpc>
            </a:pPr>
            <a:r>
              <a:rPr lang="ko-KR" altLang="en-US" sz="13000" b="0" i="0" u="none" strike="noStrike" spc="-300" dirty="0" smtClean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포트폴리오</a:t>
            </a:r>
            <a:endParaRPr lang="en-US" sz="13000" b="0" i="0" u="none" strike="noStrike" spc="-300" dirty="0">
              <a:solidFill>
                <a:srgbClr val="404040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513232" y="3035300"/>
            <a:ext cx="52578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Unity 2D RPG </a:t>
            </a:r>
            <a:r>
              <a:rPr lang="ko-KR" sz="3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게임</a:t>
            </a:r>
            <a:r>
              <a:rPr lang="en-US" sz="3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포트폴리오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563600" y="7708900"/>
            <a:ext cx="3467100" cy="172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ko-KR" sz="2500" b="1" i="0" u="none" strike="noStrike" dirty="0" err="1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유예원</a:t>
            </a:r>
            <a:endParaRPr lang="en-US" altLang="ko-KR" sz="2500" b="1" i="0" u="none" strike="noStrike" dirty="0" smtClean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0" algn="r">
              <a:lnSpc>
                <a:spcPct val="99600"/>
              </a:lnSpc>
            </a:pPr>
            <a:r>
              <a:rPr lang="en-US" altLang="ko-KR" sz="2500" b="1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010-3877-9786</a:t>
            </a:r>
          </a:p>
          <a:p>
            <a:pPr lvl="0" algn="r">
              <a:lnSpc>
                <a:spcPct val="99600"/>
              </a:lnSpc>
            </a:pPr>
            <a:r>
              <a:rPr lang="en-US" altLang="ko-KR" sz="2500" b="1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dnjss08@naver.com</a:t>
            </a:r>
            <a:endParaRPr lang="ko-KR" sz="2500" b="1" i="0" u="none" strike="noStrike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749300"/>
            <a:ext cx="16090900" cy="101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92200" y="9436100"/>
            <a:ext cx="16090900" cy="10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69000" y="1282700"/>
            <a:ext cx="6350000" cy="1422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altLang="en-US" sz="8000" b="0" i="0" u="none" strike="noStrike" dirty="0" smtClean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목  차</a:t>
            </a:r>
            <a:endParaRPr lang="ko-KR" sz="8000" b="0" i="0" u="none" strike="noStrike" dirty="0">
              <a:solidFill>
                <a:srgbClr val="404040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1956064" y="3935400"/>
            <a:ext cx="3135601" cy="2590800"/>
            <a:chOff x="2351399" y="4076700"/>
            <a:chExt cx="3414401" cy="2590800"/>
          </a:xfrm>
        </p:grpSpPr>
        <p:sp>
          <p:nvSpPr>
            <p:cNvPr id="4" name="TextBox 4"/>
            <p:cNvSpPr txBox="1"/>
            <p:nvPr/>
          </p:nvSpPr>
          <p:spPr>
            <a:xfrm>
              <a:off x="2351399" y="4076700"/>
              <a:ext cx="1505315" cy="1170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83000"/>
                </a:lnSpc>
              </a:pPr>
              <a:r>
                <a:rPr lang="en-US" sz="8100" b="0" i="0" u="none" strike="noStrike" spc="-300" dirty="0">
                  <a:solidFill>
                    <a:srgbClr val="404040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01</a:t>
              </a:r>
            </a:p>
          </p:txBody>
        </p:sp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57279" y="5105400"/>
              <a:ext cx="1493555" cy="27658"/>
            </a:xfrm>
            <a:prstGeom prst="rect">
              <a:avLst/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2362200" y="5486400"/>
              <a:ext cx="3175000" cy="406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sz="3200" b="0" i="0" u="none" strike="noStrike" spc="-200" dirty="0">
                  <a:solidFill>
                    <a:srgbClr val="404040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프로젝트</a:t>
              </a:r>
              <a:r>
                <a:rPr lang="en-US" sz="3200" b="0" i="0" u="none" strike="noStrike" spc="-200" dirty="0">
                  <a:solidFill>
                    <a:srgbClr val="404040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 </a:t>
              </a:r>
              <a:r>
                <a:rPr lang="ko-KR" sz="3200" b="0" i="0" u="none" strike="noStrike" spc="-200" dirty="0">
                  <a:solidFill>
                    <a:srgbClr val="404040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개요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74900" y="5956300"/>
              <a:ext cx="3390900" cy="711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16199"/>
                </a:lnSpc>
              </a:pPr>
              <a:r>
                <a:rPr lang="ko-KR" sz="2000" b="1" i="0" u="none" strike="noStrike" spc="-100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어떤</a:t>
              </a:r>
              <a:r>
                <a:rPr lang="en-US" sz="2000" b="1" i="0" u="none" strike="noStrike" spc="-100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2000" b="1" i="0" u="none" strike="noStrike" spc="-100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게임인지</a:t>
              </a:r>
              <a:r>
                <a:rPr lang="en-US" sz="2000" b="1" i="0" u="none" strike="noStrike" spc="-100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</a:t>
              </a:r>
            </a:p>
            <a:p>
              <a:pPr lvl="0" algn="l">
                <a:lnSpc>
                  <a:spcPct val="116199"/>
                </a:lnSpc>
              </a:pPr>
              <a:r>
                <a:rPr lang="ko-KR" sz="2000" b="1" i="0" u="none" strike="noStrike" spc="-100" dirty="0" err="1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깃허브</a:t>
              </a:r>
              <a:r>
                <a:rPr lang="en-US" sz="2000" b="1" i="0" u="none" strike="noStrike" spc="-100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/ </a:t>
              </a:r>
              <a:r>
                <a:rPr lang="ko-KR" sz="2000" b="1" i="0" u="none" strike="noStrike" spc="-100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유튜브</a:t>
              </a:r>
              <a:r>
                <a:rPr lang="en-US" sz="2000" b="1" i="0" u="none" strike="noStrike" spc="-100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2000" b="1" i="0" u="none" strike="noStrike" spc="-100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링크</a:t>
              </a:r>
            </a:p>
          </p:txBody>
        </p:sp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" y="749300"/>
            <a:ext cx="16090900" cy="1016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092200" y="9436100"/>
            <a:ext cx="16090900" cy="101600"/>
          </a:xfrm>
          <a:prstGeom prst="rect">
            <a:avLst/>
          </a:prstGeom>
        </p:spPr>
      </p:pic>
      <p:grpSp>
        <p:nvGrpSpPr>
          <p:cNvPr id="28" name="그룹 27"/>
          <p:cNvGrpSpPr/>
          <p:nvPr/>
        </p:nvGrpSpPr>
        <p:grpSpPr>
          <a:xfrm>
            <a:off x="5715000" y="3935400"/>
            <a:ext cx="3169643" cy="2590800"/>
            <a:chOff x="2314330" y="4076700"/>
            <a:chExt cx="3451470" cy="2590800"/>
          </a:xfrm>
        </p:grpSpPr>
        <p:sp>
          <p:nvSpPr>
            <p:cNvPr id="29" name="TextBox 4"/>
            <p:cNvSpPr txBox="1"/>
            <p:nvPr/>
          </p:nvSpPr>
          <p:spPr>
            <a:xfrm>
              <a:off x="2314330" y="4076700"/>
              <a:ext cx="1504354" cy="1170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83000"/>
                </a:lnSpc>
              </a:pPr>
              <a:r>
                <a:rPr lang="en-US" altLang="ko-KR" sz="8100" spc="-300" dirty="0">
                  <a:solidFill>
                    <a:srgbClr val="404040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02</a:t>
              </a:r>
              <a:endParaRPr lang="en-US" altLang="ko-KR" sz="8100" spc="-3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endParaRPr>
            </a:p>
          </p:txBody>
        </p:sp>
        <p:pic>
          <p:nvPicPr>
            <p:cNvPr id="30" name="Pictur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56799" y="5105400"/>
              <a:ext cx="1493555" cy="27658"/>
            </a:xfrm>
            <a:prstGeom prst="rect">
              <a:avLst/>
            </a:prstGeom>
          </p:spPr>
        </p:pic>
        <p:sp>
          <p:nvSpPr>
            <p:cNvPr id="31" name="TextBox 13"/>
            <p:cNvSpPr txBox="1"/>
            <p:nvPr/>
          </p:nvSpPr>
          <p:spPr>
            <a:xfrm>
              <a:off x="2362200" y="5486400"/>
              <a:ext cx="3175000" cy="406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>
                <a:lnSpc>
                  <a:spcPct val="99600"/>
                </a:lnSpc>
              </a:pPr>
              <a:r>
                <a:rPr lang="ko-KR" altLang="ko-KR" sz="3200" spc="-200" dirty="0">
                  <a:solidFill>
                    <a:srgbClr val="404040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개발</a:t>
              </a:r>
              <a:r>
                <a:rPr lang="en-US" altLang="ko-KR" sz="3200" spc="-200" dirty="0">
                  <a:solidFill>
                    <a:srgbClr val="404040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 </a:t>
              </a:r>
              <a:r>
                <a:rPr lang="ko-KR" altLang="ko-KR" sz="3200" spc="-200" dirty="0">
                  <a:solidFill>
                    <a:srgbClr val="404040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의도</a:t>
              </a:r>
              <a:endParaRPr lang="ko-KR" altLang="ko-KR" sz="3200" spc="-2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endParaRPr>
            </a:p>
          </p:txBody>
        </p:sp>
        <p:sp>
          <p:nvSpPr>
            <p:cNvPr id="32" name="TextBox 14"/>
            <p:cNvSpPr txBox="1"/>
            <p:nvPr/>
          </p:nvSpPr>
          <p:spPr>
            <a:xfrm>
              <a:off x="2374900" y="5956300"/>
              <a:ext cx="3390900" cy="711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>
                <a:lnSpc>
                  <a:spcPct val="99600"/>
                </a:lnSpc>
              </a:pPr>
              <a:r>
                <a:rPr lang="ko-KR" altLang="ko-KR" sz="2000" b="1" spc="-100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왜</a:t>
              </a:r>
              <a:r>
                <a:rPr lang="en-US" altLang="ko-KR" sz="2000" b="1" spc="-100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altLang="ko-KR" sz="2000" b="1" spc="-100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이런</a:t>
              </a:r>
              <a:r>
                <a:rPr lang="en-US" altLang="ko-KR" sz="2000" b="1" spc="-100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altLang="ko-KR" sz="2000" b="1" spc="-100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게임을</a:t>
              </a:r>
              <a:r>
                <a:rPr lang="en-US" altLang="ko-KR" sz="2000" b="1" spc="-100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altLang="ko-KR" sz="2000" b="1" spc="-100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개발하려고</a:t>
              </a:r>
              <a:r>
                <a:rPr lang="en-US" altLang="ko-KR" sz="2000" b="1" spc="-100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altLang="ko-KR" sz="2000" b="1" spc="-100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했는지</a:t>
              </a:r>
              <a:endParaRPr lang="ko-KR" altLang="ko-KR" sz="2000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33" name="그룹 32"/>
          <p:cNvGrpSpPr/>
          <p:nvPr/>
        </p:nvGrpSpPr>
        <p:grpSpPr>
          <a:xfrm>
            <a:off x="9542021" y="3935400"/>
            <a:ext cx="3135600" cy="2590800"/>
            <a:chOff x="2351400" y="4076700"/>
            <a:chExt cx="3414400" cy="2590800"/>
          </a:xfrm>
        </p:grpSpPr>
        <p:sp>
          <p:nvSpPr>
            <p:cNvPr id="34" name="TextBox 4"/>
            <p:cNvSpPr txBox="1"/>
            <p:nvPr/>
          </p:nvSpPr>
          <p:spPr>
            <a:xfrm>
              <a:off x="2351400" y="4076700"/>
              <a:ext cx="1504354" cy="1170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83000"/>
                </a:lnSpc>
              </a:pPr>
              <a:r>
                <a:rPr lang="en-US" altLang="ko-KR" sz="8100" spc="-300" dirty="0">
                  <a:solidFill>
                    <a:srgbClr val="404040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03</a:t>
              </a:r>
              <a:endParaRPr lang="en-US" altLang="ko-KR" sz="8100" spc="-3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endParaRPr>
            </a:p>
          </p:txBody>
        </p:sp>
        <p:pic>
          <p:nvPicPr>
            <p:cNvPr id="35" name="Pictur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62199" y="5105400"/>
              <a:ext cx="1493555" cy="27658"/>
            </a:xfrm>
            <a:prstGeom prst="rect">
              <a:avLst/>
            </a:prstGeom>
          </p:spPr>
        </p:pic>
        <p:sp>
          <p:nvSpPr>
            <p:cNvPr id="36" name="TextBox 13"/>
            <p:cNvSpPr txBox="1"/>
            <p:nvPr/>
          </p:nvSpPr>
          <p:spPr>
            <a:xfrm>
              <a:off x="2362200" y="5486400"/>
              <a:ext cx="3175000" cy="406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>
                <a:lnSpc>
                  <a:spcPct val="99600"/>
                </a:lnSpc>
              </a:pPr>
              <a:r>
                <a:rPr lang="ko-KR" altLang="ko-KR" sz="3200" spc="-200" dirty="0">
                  <a:solidFill>
                    <a:srgbClr val="404040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핵심</a:t>
              </a:r>
              <a:r>
                <a:rPr lang="en-US" altLang="ko-KR" sz="3200" spc="-200" dirty="0">
                  <a:solidFill>
                    <a:srgbClr val="404040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 </a:t>
              </a:r>
              <a:r>
                <a:rPr lang="ko-KR" altLang="ko-KR" sz="3200" spc="-200" dirty="0">
                  <a:solidFill>
                    <a:srgbClr val="404040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기능</a:t>
              </a:r>
              <a:r>
                <a:rPr lang="en-US" altLang="ko-KR" sz="3200" spc="-200" dirty="0">
                  <a:solidFill>
                    <a:srgbClr val="404040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 </a:t>
              </a:r>
              <a:r>
                <a:rPr lang="ko-KR" altLang="ko-KR" sz="3200" spc="-200" dirty="0">
                  <a:solidFill>
                    <a:srgbClr val="404040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구현</a:t>
              </a:r>
              <a:endParaRPr lang="ko-KR" altLang="ko-KR" sz="3200" spc="-2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endParaRPr>
            </a:p>
          </p:txBody>
        </p:sp>
        <p:sp>
          <p:nvSpPr>
            <p:cNvPr id="37" name="TextBox 14"/>
            <p:cNvSpPr txBox="1"/>
            <p:nvPr/>
          </p:nvSpPr>
          <p:spPr>
            <a:xfrm>
              <a:off x="2374900" y="5956300"/>
              <a:ext cx="3390900" cy="711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>
                <a:lnSpc>
                  <a:spcPct val="99600"/>
                </a:lnSpc>
              </a:pPr>
              <a:r>
                <a:rPr lang="ko-KR" altLang="ko-KR" sz="2000" b="1" spc="-100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어떤</a:t>
              </a:r>
              <a:r>
                <a:rPr lang="en-US" altLang="ko-KR" sz="2000" b="1" spc="-100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altLang="ko-KR" sz="2000" b="1" spc="-100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기능들을</a:t>
              </a:r>
              <a:r>
                <a:rPr lang="en-US" altLang="ko-KR" sz="2000" b="1" spc="-100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altLang="ko-KR" sz="2000" b="1" spc="-100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어떻게</a:t>
              </a:r>
              <a:r>
                <a:rPr lang="en-US" altLang="ko-KR" sz="2000" b="1" spc="-100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altLang="ko-KR" sz="2000" b="1" spc="-100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구현했는지</a:t>
              </a:r>
              <a:endParaRPr lang="ko-KR" altLang="ko-KR" sz="2000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38" name="그룹 37"/>
          <p:cNvGrpSpPr/>
          <p:nvPr/>
        </p:nvGrpSpPr>
        <p:grpSpPr>
          <a:xfrm>
            <a:off x="13335000" y="3930812"/>
            <a:ext cx="3135600" cy="2590800"/>
            <a:chOff x="2351400" y="4076700"/>
            <a:chExt cx="3414400" cy="2590800"/>
          </a:xfrm>
        </p:grpSpPr>
        <p:sp>
          <p:nvSpPr>
            <p:cNvPr id="39" name="TextBox 4"/>
            <p:cNvSpPr txBox="1"/>
            <p:nvPr/>
          </p:nvSpPr>
          <p:spPr>
            <a:xfrm>
              <a:off x="2351400" y="4076700"/>
              <a:ext cx="1504354" cy="1170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83000"/>
                </a:lnSpc>
              </a:pPr>
              <a:r>
                <a:rPr lang="en-US" altLang="ko-KR" sz="8100" spc="-300" dirty="0">
                  <a:solidFill>
                    <a:srgbClr val="404040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04</a:t>
              </a:r>
              <a:endParaRPr lang="en-US" altLang="ko-KR" sz="8100" spc="-3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endParaRPr>
            </a:p>
          </p:txBody>
        </p:sp>
        <p:pic>
          <p:nvPicPr>
            <p:cNvPr id="40" name="Pictur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62199" y="5105400"/>
              <a:ext cx="1493555" cy="27658"/>
            </a:xfrm>
            <a:prstGeom prst="rect">
              <a:avLst/>
            </a:prstGeom>
          </p:spPr>
        </p:pic>
        <p:sp>
          <p:nvSpPr>
            <p:cNvPr id="41" name="TextBox 13"/>
            <p:cNvSpPr txBox="1"/>
            <p:nvPr/>
          </p:nvSpPr>
          <p:spPr>
            <a:xfrm>
              <a:off x="2362200" y="5486400"/>
              <a:ext cx="3175000" cy="406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>
                <a:lnSpc>
                  <a:spcPct val="99600"/>
                </a:lnSpc>
              </a:pPr>
              <a:r>
                <a:rPr lang="ko-KR" altLang="ko-KR" sz="3200" spc="-200" dirty="0">
                  <a:solidFill>
                    <a:srgbClr val="404040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구조</a:t>
              </a:r>
              <a:r>
                <a:rPr lang="en-US" altLang="ko-KR" sz="3200" spc="-200" dirty="0">
                  <a:solidFill>
                    <a:srgbClr val="404040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 </a:t>
              </a:r>
              <a:r>
                <a:rPr lang="ko-KR" altLang="ko-KR" sz="3200" spc="-200" dirty="0">
                  <a:solidFill>
                    <a:srgbClr val="404040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설계</a:t>
              </a:r>
              <a:r>
                <a:rPr lang="en-US" altLang="ko-KR" sz="3200" spc="-200" dirty="0">
                  <a:solidFill>
                    <a:srgbClr val="404040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 </a:t>
              </a:r>
              <a:r>
                <a:rPr lang="ko-KR" altLang="ko-KR" sz="3200" spc="-200" dirty="0">
                  <a:solidFill>
                    <a:srgbClr val="404040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및</a:t>
              </a:r>
              <a:r>
                <a:rPr lang="en-US" altLang="ko-KR" sz="3200" spc="-200" dirty="0">
                  <a:solidFill>
                    <a:srgbClr val="404040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 </a:t>
              </a:r>
              <a:r>
                <a:rPr lang="ko-KR" altLang="ko-KR" sz="3200" spc="-200" dirty="0">
                  <a:solidFill>
                    <a:srgbClr val="404040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최적화</a:t>
              </a:r>
              <a:endParaRPr lang="ko-KR" altLang="ko-KR" sz="3200" spc="-2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endParaRPr>
            </a:p>
          </p:txBody>
        </p:sp>
        <p:sp>
          <p:nvSpPr>
            <p:cNvPr id="42" name="TextBox 14"/>
            <p:cNvSpPr txBox="1"/>
            <p:nvPr/>
          </p:nvSpPr>
          <p:spPr>
            <a:xfrm>
              <a:off x="2374900" y="5956300"/>
              <a:ext cx="3390900" cy="711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>
                <a:lnSpc>
                  <a:spcPct val="99600"/>
                </a:lnSpc>
              </a:pPr>
              <a:r>
                <a:rPr lang="ko-KR" altLang="ko-KR" sz="2000" b="1" spc="-100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어떤</a:t>
              </a:r>
              <a:r>
                <a:rPr lang="en-US" altLang="ko-KR" sz="2000" b="1" spc="-100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altLang="ko-KR" sz="2000" b="1" spc="-100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식으로</a:t>
              </a:r>
              <a:r>
                <a:rPr lang="en-US" altLang="ko-KR" sz="2000" b="1" spc="-100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altLang="ko-KR" sz="2000" b="1" spc="-100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구조를</a:t>
              </a:r>
              <a:r>
                <a:rPr lang="en-US" altLang="ko-KR" sz="2000" b="1" spc="-100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altLang="ko-KR" sz="2000" b="1" spc="-100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설계했는지</a:t>
              </a:r>
              <a:endParaRPr lang="ko-KR" altLang="ko-KR" sz="2000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/>
        </p:nvSpPr>
        <p:spPr>
          <a:xfrm>
            <a:off x="5968683" y="1282700"/>
            <a:ext cx="6350635" cy="1423035"/>
          </a:xfrm>
          <a:prstGeom prst="rect">
            <a:avLst/>
          </a:prstGeom>
        </p:spPr>
        <p:txBody>
          <a:bodyPr vert="horz" wrap="square" lIns="0" tIns="0" rIns="0" bIns="0" numCol="1" rtlCol="1" anchor="ctr">
            <a:noAutofit/>
          </a:bodyPr>
          <a:lstStyle/>
          <a:p>
            <a:pPr marL="0" indent="0" algn="ctr">
              <a:lnSpc>
                <a:spcPct val="83000"/>
              </a:lnSpc>
              <a:buFontTx/>
              <a:buNone/>
            </a:pPr>
            <a:r>
              <a:rPr lang="ko-KR" sz="8000" b="0" i="0" strike="noStrike" spc="-29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01</a:t>
            </a:r>
            <a:endParaRPr lang="ko-KR" altLang="en-US" sz="8000" b="0" i="0" strike="noStrike" dirty="0">
              <a:solidFill>
                <a:srgbClr val="404040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pic>
        <p:nvPicPr>
          <p:cNvPr id="9" name="Picture " descr="C:/Users/rtysu/AppData/Roaming/PolarisOffice/ETemp/1916_7275256/image3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183" y="2408555"/>
            <a:ext cx="3429635" cy="67945"/>
          </a:xfrm>
          <a:prstGeom prst="rect">
            <a:avLst/>
          </a:prstGeom>
          <a:noFill/>
        </p:spPr>
      </p:pic>
      <p:sp>
        <p:nvSpPr>
          <p:cNvPr id="13" name="Rect 0"/>
          <p:cNvSpPr txBox="1">
            <a:spLocks/>
          </p:cNvSpPr>
          <p:nvPr/>
        </p:nvSpPr>
        <p:spPr>
          <a:xfrm>
            <a:off x="7098030" y="2915920"/>
            <a:ext cx="4091940" cy="956310"/>
          </a:xfrm>
          <a:prstGeom prst="rect">
            <a:avLst/>
          </a:prstGeom>
        </p:spPr>
        <p:txBody>
          <a:bodyPr vert="horz" wrap="square" lIns="0" tIns="0" rIns="0" bIns="0" numCol="1" rtlCol="1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ko-KR" sz="6000" b="0" i="0" strike="noStrike" spc="-19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프로젝트</a:t>
            </a:r>
            <a:r>
              <a:rPr lang="en-US" sz="6000" b="0" i="0" strike="noStrike" spc="-19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sz="6000" b="0" i="0" strike="noStrike" spc="-19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개요</a:t>
            </a:r>
            <a:endParaRPr lang="ko-KR" altLang="en-US" sz="6000" b="0" i="0" strike="noStrike" dirty="0">
              <a:solidFill>
                <a:srgbClr val="404040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5071428" y="5464175"/>
            <a:ext cx="8145145" cy="1978025"/>
          </a:xfrm>
          <a:prstGeom prst="rect">
            <a:avLst/>
          </a:prstGeom>
        </p:spPr>
        <p:txBody>
          <a:bodyPr vert="horz" wrap="square" lIns="0" tIns="0" rIns="0" bIns="0" numCol="1" rtlCol="1" anchor="ctr">
            <a:noAutofit/>
          </a:bodyPr>
          <a:lstStyle/>
          <a:p>
            <a:pPr marL="0" indent="0" algn="ctr">
              <a:lnSpc>
                <a:spcPct val="116199"/>
              </a:lnSpc>
              <a:buFontTx/>
              <a:buNone/>
            </a:pPr>
            <a:r>
              <a:rPr lang="ko-KR" sz="4800" b="1" i="0" strike="noStrike" spc="-9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어떤</a:t>
            </a:r>
            <a:r>
              <a:rPr lang="en-US" sz="4800" b="1" i="0" strike="noStrike" spc="-9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4800" b="1" i="0" strike="noStrike" spc="-90" dirty="0" err="1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게임인지에</a:t>
            </a:r>
            <a:r>
              <a:rPr lang="ko-KR" sz="4800" b="1" i="0" strike="noStrike" spc="-9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대한 설명 및 </a:t>
            </a:r>
            <a:r>
              <a:rPr lang="ko-KR" sz="4800" b="1" i="0" strike="noStrike" spc="-90" dirty="0" err="1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깃허브</a:t>
            </a:r>
            <a:r>
              <a:rPr lang="en-US" sz="4800" b="1" i="0" strike="noStrike" spc="-9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/ </a:t>
            </a:r>
            <a:r>
              <a:rPr lang="ko-KR" sz="4800" b="1" i="0" strike="noStrike" spc="-9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유튜브</a:t>
            </a:r>
            <a:r>
              <a:rPr lang="en-US" sz="4800" b="1" i="0" strike="noStrike" spc="-9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4800" b="1" i="0" strike="noStrike" spc="-9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링크 첨부</a:t>
            </a:r>
            <a:endParaRPr lang="ko-KR" altLang="en-US" sz="4800" b="1" i="0" strike="noStrike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0" name="Picture " descr="C:/Users/rtysu/AppData/Roaming/PolarisOffice/ETemp/1916_7275256/image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" y="749300"/>
            <a:ext cx="16091535" cy="102235"/>
          </a:xfrm>
          <a:prstGeom prst="rect">
            <a:avLst/>
          </a:prstGeom>
          <a:noFill/>
        </p:spPr>
      </p:pic>
      <p:pic>
        <p:nvPicPr>
          <p:cNvPr id="21" name="Picture " descr="C:/Users/rtysu/AppData/Roaming/PolarisOffice/ETemp/1916_7275256/image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92200" y="9436100"/>
            <a:ext cx="16091535" cy="10223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749300"/>
            <a:ext cx="16090900" cy="101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92200" y="9436100"/>
            <a:ext cx="16090900" cy="101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600" y="2521171"/>
            <a:ext cx="8688498" cy="48895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244600" y="939800"/>
            <a:ext cx="8636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5000" b="0" i="0" u="none" strike="noStrike" spc="-2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86000" y="1066800"/>
            <a:ext cx="53340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600" b="0" i="0" u="none" strike="noStrike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프로젝트</a:t>
            </a:r>
            <a:r>
              <a:rPr lang="en-US" sz="3600" b="0" i="0" u="none" strike="noStrike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sz="3600" b="0" i="0" u="none" strike="noStrike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개요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48900" y="2519113"/>
            <a:ext cx="6934200" cy="4877435"/>
          </a:xfrm>
          <a:prstGeom prst="rect">
            <a:avLst/>
          </a:prstGeom>
        </p:spPr>
        <p:txBody>
          <a:bodyPr vert="horz" wrap="square" lIns="0" tIns="0" rIns="0" bIns="0" numCol="1" rtlCol="1" anchor="t">
            <a:noAutofit/>
          </a:bodyPr>
          <a:lstStyle/>
          <a:p>
            <a:pPr marL="457200" indent="-4572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sz="3000" b="1" i="0" strike="noStrike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게임</a:t>
            </a:r>
            <a:r>
              <a:rPr lang="en-US" sz="3000" b="1" i="0" strike="noStrike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sz="3000" b="1" i="0" strike="noStrike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제목</a:t>
            </a:r>
            <a:r>
              <a:rPr lang="en-US" sz="3000" b="0" i="0" strike="noStrike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en-US" sz="3000" b="1" i="0" strike="noStrike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en-US" sz="3000" b="0" i="0" strike="noStrike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FantasyRPG</a:t>
            </a:r>
            <a:endParaRPr lang="ko-KR" altLang="en-US" sz="3000" b="0" i="0" strike="noStrike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457200" indent="-4572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sz="3000" b="1" i="0" strike="noStrike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게임</a:t>
            </a:r>
            <a:r>
              <a:rPr lang="en-US" sz="3000" b="1" i="0" strike="noStrike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sz="3000" b="1" i="0" strike="noStrike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장르</a:t>
            </a:r>
            <a:r>
              <a:rPr lang="en-US" sz="3000" b="0" i="0" strike="noStrike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en-US" sz="3000" b="1" i="0" strike="noStrike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en-US" sz="3000" b="0" i="0" strike="noStrike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000" b="0" i="0" strike="noStrike" dirty="0" err="1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횡스크롤</a:t>
            </a:r>
            <a:r>
              <a:rPr lang="en-US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2D </a:t>
            </a:r>
            <a:r>
              <a:rPr lang="ko-KR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액션</a:t>
            </a:r>
            <a:r>
              <a:rPr lang="en-US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RPG</a:t>
            </a:r>
            <a:endParaRPr lang="ko-KR" altLang="en-US" sz="3000" b="0" i="0" strike="noStrike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457200" indent="-4572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sz="3000" b="1" i="0" strike="noStrike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플랫폼</a:t>
            </a:r>
            <a:r>
              <a:rPr lang="en-US" sz="3000" b="0" i="0" strike="noStrike" dirty="0">
                <a:latin typeface="Pretendard Light" charset="0"/>
              </a:rPr>
              <a:t> </a:t>
            </a:r>
            <a:r>
              <a:rPr lang="en-US" sz="30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sz="300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모바일</a:t>
            </a:r>
            <a:endParaRPr lang="ko-KR" altLang="en-US" sz="3000" i="0" strike="noStrike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457200" indent="-4572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sz="3000" b="1" i="0" strike="noStrike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개발</a:t>
            </a:r>
            <a:r>
              <a:rPr lang="en-US" sz="3000" b="1" i="0" strike="noStrike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sz="3000" b="1" i="0" strike="noStrike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기간</a:t>
            </a:r>
            <a:r>
              <a:rPr lang="en-US" sz="3000" b="0" i="0" strike="noStrike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en-US" sz="30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en-US" sz="300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2024.3 ~ 2024.3 (</a:t>
            </a:r>
            <a:r>
              <a:rPr lang="ko-KR" sz="300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약</a:t>
            </a:r>
            <a:r>
              <a:rPr lang="en-US" sz="300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2~3</a:t>
            </a:r>
            <a:r>
              <a:rPr lang="ko-KR" sz="300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r>
              <a:rPr lang="en-US" sz="300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3000" i="0" strike="noStrike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457200" indent="-4572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sz="3000" b="1" i="0" strike="noStrike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개발</a:t>
            </a:r>
            <a:r>
              <a:rPr lang="en-US" sz="3000" b="1" i="0" strike="noStrike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sz="3000" b="1" i="0" strike="noStrike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환경</a:t>
            </a:r>
            <a:r>
              <a:rPr lang="en-US" sz="3000" b="0" i="0" strike="noStrike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en-US" sz="30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en-US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Unity6, C#</a:t>
            </a:r>
            <a:endParaRPr lang="ko-KR" altLang="en-US" sz="3000" b="0" i="0" strike="noStrike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457200" indent="-4572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sz="3000" b="1" i="0" strike="noStrike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주요</a:t>
            </a:r>
            <a:r>
              <a:rPr lang="en-US" sz="3000" b="1" i="0" strike="noStrike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sz="3000" b="1" i="0" strike="noStrike" dirty="0" smtClean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시스템</a:t>
            </a:r>
            <a:endParaRPr lang="ko-KR" altLang="en-US" sz="3000" b="0" i="0" strike="noStrike" dirty="0">
              <a:solidFill>
                <a:srgbClr val="404040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  <a:p>
            <a:pPr marL="0" indent="0" algn="l">
              <a:lnSpc>
                <a:spcPct val="110000"/>
              </a:lnSpc>
              <a:buFontTx/>
              <a:buNone/>
            </a:pPr>
            <a:r>
              <a:rPr lang="en-US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몬스터</a:t>
            </a:r>
            <a:r>
              <a:rPr lang="en-US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사냥</a:t>
            </a:r>
            <a:r>
              <a:rPr lang="en-US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아이템</a:t>
            </a:r>
            <a:r>
              <a:rPr lang="en-US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000" b="0" i="0" strike="noStrike" dirty="0" err="1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드랍</a:t>
            </a:r>
            <a:endParaRPr lang="ko-KR" altLang="en-US" sz="3000" b="0" i="0" strike="noStrike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110000"/>
              </a:lnSpc>
              <a:buFontTx/>
              <a:buNone/>
            </a:pPr>
            <a:r>
              <a:rPr lang="en-US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장비</a:t>
            </a:r>
            <a:r>
              <a:rPr lang="en-US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아이템</a:t>
            </a:r>
            <a:r>
              <a:rPr lang="en-US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수집</a:t>
            </a:r>
            <a:r>
              <a:rPr lang="en-US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장착</a:t>
            </a:r>
            <a:endParaRPr lang="ko-KR" altLang="en-US" sz="3000" b="0" i="0" strike="noStrike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110000"/>
              </a:lnSpc>
              <a:buFontTx/>
              <a:buNone/>
            </a:pPr>
            <a:r>
              <a:rPr lang="en-US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상점과</a:t>
            </a:r>
            <a:r>
              <a:rPr lang="en-US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000" b="0" i="0" strike="noStrike" dirty="0" err="1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인벤토리</a:t>
            </a:r>
            <a:r>
              <a:rPr lang="en-US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연동</a:t>
            </a:r>
            <a:endParaRPr lang="ko-KR" altLang="en-US" sz="3000" b="0" i="0" strike="noStrike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110000"/>
              </a:lnSpc>
              <a:buFontTx/>
              <a:buNone/>
            </a:pPr>
            <a:r>
              <a:rPr lang="en-US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조이스틱</a:t>
            </a:r>
            <a:r>
              <a:rPr lang="en-US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기반</a:t>
            </a:r>
            <a:r>
              <a:rPr lang="en-US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000" b="0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이동</a:t>
            </a:r>
            <a:endParaRPr lang="ko-KR" altLang="en-US" sz="3000" b="0" i="0" strike="noStrike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FantasyRPG PortFolio </a:t>
            </a:r>
            <a:fld id="{B6F15528-21DE-4FAA-801E-634DDDAF4B2B}" type="slidenum">
              <a:rPr lang="en-US" smtClean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pPr/>
              <a:t>4</a:t>
            </a:fld>
            <a:endParaRPr lang="en-US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0129" y="8219959"/>
            <a:ext cx="9728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3000" b="1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Github : </a:t>
            </a:r>
            <a:r>
              <a:rPr lang="ko-KR" altLang="ko-KR" sz="3000" b="1" dirty="0">
                <a:solidFill>
                  <a:srgbClr val="7878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hlinkClick r:id="rId4"/>
              </a:rPr>
              <a:t>https://</a:t>
            </a:r>
            <a:r>
              <a:rPr lang="ko-KR" altLang="ko-KR" sz="3000" b="1" dirty="0" smtClean="0">
                <a:solidFill>
                  <a:srgbClr val="7878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hlinkClick r:id="rId4"/>
              </a:rPr>
              <a:t>github.com/xxxuug/FantasyRPG.git</a:t>
            </a:r>
            <a:endParaRPr lang="en-US" altLang="ko-KR" sz="3000" b="1" dirty="0" smtClean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3000" b="1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Youtube </a:t>
            </a:r>
            <a:r>
              <a:rPr lang="en-US" altLang="ko-KR" sz="3000" b="1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ko-KR" sz="3000" b="1" dirty="0">
                <a:solidFill>
                  <a:srgbClr val="7878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hlinkClick r:id="rId5"/>
              </a:rPr>
              <a:t>https://</a:t>
            </a:r>
            <a:r>
              <a:rPr lang="ko-KR" altLang="ko-KR" sz="3000" b="1" dirty="0" smtClean="0">
                <a:solidFill>
                  <a:srgbClr val="7878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hlinkClick r:id="rId5"/>
              </a:rPr>
              <a:t>youtu.be/1c9b0wjhrLw</a:t>
            </a:r>
            <a:endParaRPr lang="ko-KR" altLang="en-US" sz="3000" b="1" dirty="0">
              <a:solidFill>
                <a:srgbClr val="78787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/>
        </p:nvSpPr>
        <p:spPr>
          <a:xfrm>
            <a:off x="5968683" y="1282700"/>
            <a:ext cx="6350635" cy="1423035"/>
          </a:xfrm>
          <a:prstGeom prst="rect">
            <a:avLst/>
          </a:prstGeom>
        </p:spPr>
        <p:txBody>
          <a:bodyPr vert="horz" wrap="square" lIns="0" tIns="0" rIns="0" bIns="0" numCol="1" rtlCol="1" anchor="ctr">
            <a:noAutofit/>
          </a:bodyPr>
          <a:lstStyle/>
          <a:p>
            <a:pPr marL="0" indent="0" algn="ctr">
              <a:lnSpc>
                <a:spcPct val="83000"/>
              </a:lnSpc>
              <a:buFontTx/>
              <a:buNone/>
            </a:pPr>
            <a:r>
              <a:rPr lang="ko-KR" sz="8000" b="0" i="0" strike="noStrike" spc="-29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02</a:t>
            </a:r>
            <a:endParaRPr lang="ko-KR" altLang="en-US" sz="8000" b="0" i="0" strike="noStrike" dirty="0">
              <a:solidFill>
                <a:srgbClr val="404040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13" name="Rect 0"/>
          <p:cNvSpPr txBox="1">
            <a:spLocks/>
          </p:cNvSpPr>
          <p:nvPr/>
        </p:nvSpPr>
        <p:spPr>
          <a:xfrm>
            <a:off x="7185660" y="2915920"/>
            <a:ext cx="3905885" cy="956310"/>
          </a:xfrm>
          <a:prstGeom prst="rect">
            <a:avLst/>
          </a:prstGeom>
        </p:spPr>
        <p:txBody>
          <a:bodyPr vert="horz" wrap="square" lIns="0" tIns="0" rIns="0" bIns="0" numCol="1" rtlCol="1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ko-KR" sz="6000" b="0" i="0" strike="noStrike" spc="-19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개발</a:t>
            </a:r>
            <a:r>
              <a:rPr lang="en-US" sz="6000" b="0" i="0" strike="noStrike" spc="-19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sz="6000" b="0" i="0" strike="noStrike" spc="-19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의도</a:t>
            </a:r>
            <a:endParaRPr lang="ko-KR" altLang="en-US" sz="6000" b="0" i="0" strike="noStrike" dirty="0">
              <a:solidFill>
                <a:srgbClr val="404040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4547870" y="5559425"/>
            <a:ext cx="9192260" cy="1993900"/>
          </a:xfrm>
          <a:prstGeom prst="rect">
            <a:avLst/>
          </a:prstGeom>
        </p:spPr>
        <p:txBody>
          <a:bodyPr vert="horz" wrap="square" lIns="0" tIns="0" rIns="0" bIns="0" numCol="1" rtlCol="1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ko-KR" sz="4800" b="1" i="0" strike="noStrike" spc="-9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왜</a:t>
            </a:r>
            <a:r>
              <a:rPr lang="en-US" sz="4800" b="1" i="0" strike="noStrike" spc="-9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4800" b="1" i="0" strike="noStrike" spc="-9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이런</a:t>
            </a:r>
            <a:r>
              <a:rPr lang="en-US" sz="4800" b="1" i="0" strike="noStrike" spc="-9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4800" b="1" i="0" strike="noStrike" spc="-9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게임을</a:t>
            </a:r>
            <a:r>
              <a:rPr lang="en-US" sz="4800" b="1" i="0" strike="noStrike" spc="-9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4800" b="1" i="0" strike="noStrike" spc="-9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개발하려고 했나요</a:t>
            </a:r>
            <a:r>
              <a:rPr lang="ko-KR" sz="4800" b="1" i="0" strike="noStrike" spc="-90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ko-KR" altLang="en-US" sz="4800" b="1" i="0" strike="noStrike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0" name="Picture " descr="C:/Users/rtysu/AppData/Roaming/PolarisOffice/ETemp/1916_7275256/image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" y="749300"/>
            <a:ext cx="16091535" cy="102235"/>
          </a:xfrm>
          <a:prstGeom prst="rect">
            <a:avLst/>
          </a:prstGeom>
          <a:noFill/>
        </p:spPr>
      </p:pic>
      <p:pic>
        <p:nvPicPr>
          <p:cNvPr id="21" name="Picture " descr="C:/Users/rtysu/AppData/Roaming/PolarisOffice/ETemp/1916_7275256/image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92200" y="9436100"/>
            <a:ext cx="16091535" cy="102235"/>
          </a:xfrm>
          <a:prstGeom prst="rect">
            <a:avLst/>
          </a:prstGeom>
          <a:noFill/>
        </p:spPr>
      </p:pic>
      <p:pic>
        <p:nvPicPr>
          <p:cNvPr id="10" name="Picture " descr="C:/Users/rtysu/AppData/Roaming/PolarisOffice/ETemp/1916_7275256/image3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183" y="2408555"/>
            <a:ext cx="3429635" cy="6794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749300"/>
            <a:ext cx="16090900" cy="101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92200" y="9436100"/>
            <a:ext cx="16090900" cy="101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600" y="1816100"/>
            <a:ext cx="6172200" cy="3403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600" y="5461000"/>
            <a:ext cx="6172200" cy="3416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7924800" y="1765300"/>
            <a:ext cx="9258935" cy="7582535"/>
          </a:xfrm>
          <a:prstGeom prst="rect">
            <a:avLst/>
          </a:prstGeom>
        </p:spPr>
        <p:txBody>
          <a:bodyPr vert="horz" wrap="square" lIns="0" tIns="0" rIns="0" bIns="0" numCol="1" rtlCol="1" anchor="t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3800" b="1" i="0" strike="noStrike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개발</a:t>
            </a:r>
            <a:r>
              <a:rPr lang="en-US" sz="3800" b="1" i="0" strike="noStrike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sz="3800" b="1" i="0" strike="noStrike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의도</a:t>
            </a:r>
            <a:endParaRPr lang="ko-KR" altLang="en-US" sz="3800" b="1" i="0" strike="noStrike" dirty="0">
              <a:solidFill>
                <a:srgbClr val="404040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endParaRPr lang="ko-KR" altLang="en-US" sz="3800" b="0" i="0" strike="noStrike" dirty="0">
              <a:ea typeface="Pretendard Bold" charset="0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RPG </a:t>
            </a:r>
            <a:r>
              <a:rPr lang="ko-KR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장르의</a:t>
            </a:r>
            <a:r>
              <a:rPr lang="en-US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기본이라고</a:t>
            </a:r>
            <a:r>
              <a:rPr lang="en-US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할</a:t>
            </a:r>
            <a:r>
              <a:rPr lang="en-US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</a:t>
            </a:r>
            <a:r>
              <a:rPr lang="en-US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있는</a:t>
            </a:r>
            <a:r>
              <a:rPr lang="en-US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200" b="1" i="0" strike="noStrike" dirty="0" err="1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인벤토리</a:t>
            </a:r>
            <a:r>
              <a:rPr lang="en-US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상점시스템을</a:t>
            </a:r>
            <a:r>
              <a:rPr lang="en-US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직접</a:t>
            </a:r>
            <a:r>
              <a:rPr lang="en-US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구현해보고</a:t>
            </a:r>
            <a:r>
              <a:rPr lang="en-US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싶었습니다</a:t>
            </a:r>
            <a:r>
              <a:rPr lang="en-US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3200" b="1" i="0" strike="noStrike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endParaRPr lang="ko-KR" altLang="en-US" sz="3200" b="1" i="0" strike="noStrike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특히</a:t>
            </a:r>
            <a:r>
              <a:rPr lang="en-US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모바일</a:t>
            </a:r>
            <a:r>
              <a:rPr lang="en-US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200" b="1" i="0" strike="noStrike" dirty="0" err="1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횡스크롤</a:t>
            </a:r>
            <a:r>
              <a:rPr lang="en-US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RPG </a:t>
            </a:r>
            <a:r>
              <a:rPr lang="ko-KR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게임에서</a:t>
            </a:r>
            <a:r>
              <a:rPr lang="en-US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자주</a:t>
            </a:r>
            <a:r>
              <a:rPr lang="en-US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200" b="1" i="0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등장하는</a:t>
            </a:r>
            <a:endParaRPr lang="en-US" altLang="ko-KR" sz="3200" b="1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3200" b="1" i="0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구조를</a:t>
            </a:r>
            <a:r>
              <a:rPr lang="en-US" sz="3200" b="1" i="0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바탕으로</a:t>
            </a:r>
            <a:r>
              <a:rPr lang="en-US" sz="3200" b="1" i="0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sz="3200" b="1" i="0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익숙하면서도</a:t>
            </a:r>
            <a:r>
              <a:rPr lang="en-US" sz="3200" b="1" i="0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직관적인</a:t>
            </a:r>
            <a:r>
              <a:rPr lang="en-US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패턴을</a:t>
            </a:r>
            <a:r>
              <a:rPr lang="en-US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따라</a:t>
            </a:r>
            <a:r>
              <a:rPr lang="en-US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구성하려고</a:t>
            </a:r>
            <a:r>
              <a:rPr lang="en-US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노력했습니다</a:t>
            </a:r>
            <a:r>
              <a:rPr lang="en-US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3200" b="1" i="0" strike="noStrike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endParaRPr lang="ko-KR" altLang="en-US" sz="3200" b="1" i="0" strike="noStrike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또한</a:t>
            </a:r>
            <a:r>
              <a:rPr lang="en-US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성능</a:t>
            </a:r>
            <a:r>
              <a:rPr lang="en-US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최적화와</a:t>
            </a:r>
            <a:r>
              <a:rPr lang="en-US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확장성을</a:t>
            </a:r>
            <a:r>
              <a:rPr lang="en-US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모두</a:t>
            </a:r>
            <a:r>
              <a:rPr lang="en-US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200" b="1" i="0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고려하여</a:t>
            </a:r>
            <a:endParaRPr lang="en-US" altLang="ko-KR" sz="3200" b="1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3200" b="1" i="0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설계하였으며</a:t>
            </a:r>
            <a:r>
              <a:rPr lang="en-US" sz="3200" b="1" i="0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3200" b="1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200" b="1" i="0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추후</a:t>
            </a:r>
            <a:r>
              <a:rPr lang="en-US" sz="3200" b="1" i="0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기능이</a:t>
            </a:r>
            <a:r>
              <a:rPr lang="en-US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추가되더라도</a:t>
            </a:r>
            <a:r>
              <a:rPr lang="en-US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구조적으로</a:t>
            </a:r>
            <a:r>
              <a:rPr lang="en-US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유연하게</a:t>
            </a:r>
            <a:r>
              <a:rPr lang="en-US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확장할</a:t>
            </a:r>
            <a:r>
              <a:rPr lang="en-US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</a:t>
            </a:r>
            <a:r>
              <a:rPr lang="en-US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있도록</a:t>
            </a:r>
            <a:r>
              <a:rPr lang="en-US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3200" b="1" i="0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구현했습니다</a:t>
            </a:r>
            <a:r>
              <a:rPr lang="en-US" sz="3200" b="0" i="0" strike="noStrike" dirty="0">
                <a:solidFill>
                  <a:srgbClr val="404040"/>
                </a:solidFill>
                <a:latin typeface="Pretendard Light" charset="0"/>
              </a:rPr>
              <a:t>.</a:t>
            </a:r>
            <a:endParaRPr lang="ko-KR" altLang="en-US" sz="3200" b="0" i="0" strike="noStrike" dirty="0">
              <a:solidFill>
                <a:srgbClr val="404040"/>
              </a:solidFill>
              <a:latin typeface="Pretendard Light" charset="0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endParaRPr lang="ko-KR" altLang="en-US" sz="3200" b="0" i="0" strike="noStrike" dirty="0">
              <a:latin typeface="Pretendard Light" charset="0"/>
            </a:endParaRPr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FantasyRPG PortFolio </a:t>
            </a:r>
            <a:fld id="{B6F15528-21DE-4FAA-801E-634DDDAF4B2B}" type="slidenum">
              <a:rPr lang="en-US" smtClean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pPr/>
              <a:t>6</a:t>
            </a:fld>
            <a:endParaRPr lang="en-US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11" name="TextBox 6"/>
          <p:cNvSpPr txBox="1"/>
          <p:nvPr/>
        </p:nvSpPr>
        <p:spPr>
          <a:xfrm>
            <a:off x="1244600" y="939800"/>
            <a:ext cx="8636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5000" b="0" i="0" u="none" strike="noStrike" spc="-200" dirty="0" smtClean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02</a:t>
            </a:r>
            <a:endParaRPr lang="en-US" sz="5000" b="0" i="0" u="none" strike="noStrike" spc="-200" dirty="0">
              <a:solidFill>
                <a:srgbClr val="404040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12" name="TextBox 7"/>
          <p:cNvSpPr txBox="1"/>
          <p:nvPr/>
        </p:nvSpPr>
        <p:spPr>
          <a:xfrm>
            <a:off x="2286000" y="1066800"/>
            <a:ext cx="53340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600" dirty="0" smtClean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개발</a:t>
            </a:r>
            <a:r>
              <a:rPr lang="en-US" sz="3600" b="0" i="0" u="none" strike="noStrike" dirty="0" smtClean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altLang="en-US" sz="3600" b="0" i="0" u="none" strike="noStrike" dirty="0" smtClean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의도</a:t>
            </a:r>
            <a:endParaRPr lang="ko-KR" sz="3600" b="0" i="0" u="none" strike="noStrike" dirty="0">
              <a:solidFill>
                <a:srgbClr val="404040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/>
        </p:nvSpPr>
        <p:spPr>
          <a:xfrm>
            <a:off x="5969000" y="1282700"/>
            <a:ext cx="6350635" cy="1423035"/>
          </a:xfrm>
          <a:prstGeom prst="rect">
            <a:avLst/>
          </a:prstGeom>
        </p:spPr>
        <p:txBody>
          <a:bodyPr vert="horz" wrap="square" lIns="0" tIns="0" rIns="0" bIns="0" numCol="1" rtlCol="1" anchor="ctr">
            <a:noAutofit/>
          </a:bodyPr>
          <a:lstStyle/>
          <a:p>
            <a:pPr marL="0" indent="0" algn="ctr">
              <a:lnSpc>
                <a:spcPct val="83000"/>
              </a:lnSpc>
              <a:buFontTx/>
              <a:buNone/>
            </a:pPr>
            <a:r>
              <a:rPr lang="ko-KR" sz="8000" b="0" i="0" strike="noStrike" spc="-29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03</a:t>
            </a:r>
            <a:endParaRPr lang="ko-KR" altLang="en-US" sz="8000" b="0" i="0" strike="noStrike" dirty="0">
              <a:solidFill>
                <a:srgbClr val="404040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13" name="Rect 0"/>
          <p:cNvSpPr txBox="1">
            <a:spLocks/>
          </p:cNvSpPr>
          <p:nvPr/>
        </p:nvSpPr>
        <p:spPr>
          <a:xfrm>
            <a:off x="6945630" y="2915920"/>
            <a:ext cx="4396740" cy="956310"/>
          </a:xfrm>
          <a:prstGeom prst="rect">
            <a:avLst/>
          </a:prstGeom>
        </p:spPr>
        <p:txBody>
          <a:bodyPr vert="horz" wrap="square" lIns="0" tIns="0" rIns="0" bIns="0" numCol="1" rtlCol="1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ko-KR" sz="6000" b="0" i="0" strike="noStrike" spc="-19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핵심</a:t>
            </a:r>
            <a:r>
              <a:rPr lang="en-US" sz="6000" b="0" i="0" strike="noStrike" spc="-19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sz="6000" b="0" i="0" strike="noStrike" spc="-19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기능</a:t>
            </a:r>
            <a:r>
              <a:rPr lang="en-US" sz="6000" b="0" i="0" strike="noStrike" spc="-19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sz="6000" b="0" i="0" strike="noStrike" spc="-19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구현</a:t>
            </a:r>
            <a:endParaRPr lang="ko-KR" altLang="en-US" sz="6000" b="0" i="0" strike="noStrike" dirty="0">
              <a:solidFill>
                <a:srgbClr val="404040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4548505" y="5559425"/>
            <a:ext cx="9192260" cy="1993900"/>
          </a:xfrm>
          <a:prstGeom prst="rect">
            <a:avLst/>
          </a:prstGeom>
        </p:spPr>
        <p:txBody>
          <a:bodyPr vert="horz" wrap="square" lIns="0" tIns="0" rIns="0" bIns="0" numCol="1" rtlCol="1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ko-KR" sz="4800" b="1" i="0" strike="noStrike" spc="-9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어떤</a:t>
            </a:r>
            <a:r>
              <a:rPr lang="en-US" sz="4800" b="1" i="0" strike="noStrike" spc="-9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4800" b="1" i="0" strike="noStrike" spc="-9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기능들을</a:t>
            </a:r>
            <a:r>
              <a:rPr lang="en-US" sz="4800" b="1" i="0" strike="noStrike" spc="-9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4800" b="1" i="0" strike="noStrike" spc="-9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어떻게</a:t>
            </a:r>
            <a:r>
              <a:rPr lang="en-US" sz="4800" b="1" i="0" strike="noStrike" spc="-9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4800" b="1" i="0" strike="noStrike" spc="-90" dirty="0" err="1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구현했을까요</a:t>
            </a:r>
            <a:r>
              <a:rPr lang="ko-KR" sz="4800" b="1" i="0" strike="noStrike" spc="-9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ko-KR" altLang="en-US" sz="4800" b="1" i="0" strike="noStrike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0" name="Picture " descr="C:/Users/rtysu/AppData/Roaming/PolarisOffice/ETemp/1916_7275256/image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" y="749300"/>
            <a:ext cx="16091535" cy="102235"/>
          </a:xfrm>
          <a:prstGeom prst="rect">
            <a:avLst/>
          </a:prstGeom>
          <a:noFill/>
        </p:spPr>
      </p:pic>
      <p:pic>
        <p:nvPicPr>
          <p:cNvPr id="21" name="Picture " descr="C:/Users/rtysu/AppData/Roaming/PolarisOffice/ETemp/1916_7275256/image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92200" y="9436100"/>
            <a:ext cx="16091535" cy="102235"/>
          </a:xfrm>
          <a:prstGeom prst="rect">
            <a:avLst/>
          </a:prstGeom>
          <a:noFill/>
        </p:spPr>
      </p:pic>
      <p:pic>
        <p:nvPicPr>
          <p:cNvPr id="10" name="Picture " descr="C:/Users/rtysu/AppData/Roaming/PolarisOffice/ETemp/1916_7275256/image3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183" y="2408555"/>
            <a:ext cx="3429635" cy="6794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749300"/>
            <a:ext cx="16090900" cy="101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92200" y="9436100"/>
            <a:ext cx="16090900" cy="101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518" y="1948493"/>
            <a:ext cx="6252882" cy="3035719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286000" y="1524000"/>
            <a:ext cx="65278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800" b="1" i="0" u="none" strike="noStrike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조이스틱</a:t>
            </a:r>
            <a:r>
              <a:rPr lang="en-US" sz="1800" b="1" i="0" u="none" strike="noStrike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1800" b="1" i="0" u="none" strike="noStrike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기반</a:t>
            </a:r>
            <a:r>
              <a:rPr lang="en-US" sz="1800" b="1" i="0" u="none" strike="noStrike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1800" b="1" i="0" u="none" strike="noStrike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모바일</a:t>
            </a:r>
            <a:r>
              <a:rPr lang="en-US" sz="1800" b="1" i="0" u="none" strike="noStrike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1800" b="1" i="0" u="none" strike="noStrike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조작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50300" y="5719970"/>
            <a:ext cx="8432800" cy="311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조이스틱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기반의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모바일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조작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시스템과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버튼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방식으로</a:t>
            </a:r>
            <a:r>
              <a:rPr lang="en-US" altLang="ko-KR" sz="2400" b="1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br>
              <a:rPr lang="en-US" altLang="ko-KR" sz="2400" b="1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sz="24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플레이어의</a:t>
            </a:r>
            <a:r>
              <a:rPr lang="en-US" sz="24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이동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점프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공격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피격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사망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등을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처리하였습니다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endParaRPr lang="en-US" sz="2400" b="1" i="0" u="none" strike="noStrike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애니메이션과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연동된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무기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공격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피격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 err="1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넉백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반투명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처리</a:t>
            </a:r>
            <a:r>
              <a:rPr lang="en-US" sz="24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br>
              <a:rPr lang="en-US" sz="24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sz="24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사망</a:t>
            </a:r>
            <a:r>
              <a:rPr lang="en-US" sz="24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애니메이션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정지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직관적인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조작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흐름을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구현했습니다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endParaRPr lang="en-US" sz="2400" b="1" i="0" u="none" strike="noStrike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GameManager</a:t>
            </a:r>
            <a:r>
              <a:rPr lang="ko-KR" sz="2400" b="1" i="0" u="none" strike="noStrike" dirty="0" err="1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통해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조작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정보를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통합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관리하고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sz="24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버튼과</a:t>
            </a:r>
            <a:r>
              <a:rPr lang="en-US" altLang="ko-KR" sz="2400" b="1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br>
              <a:rPr lang="en-US" altLang="ko-KR" sz="2400" b="1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sz="24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애니메이션이</a:t>
            </a:r>
            <a:r>
              <a:rPr lang="en-US" sz="24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일관되게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동작하도록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구성했습니다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grpSp>
        <p:nvGrpSpPr>
          <p:cNvPr id="18" name="그룹 17"/>
          <p:cNvGrpSpPr/>
          <p:nvPr/>
        </p:nvGrpSpPr>
        <p:grpSpPr>
          <a:xfrm>
            <a:off x="2286000" y="8555499"/>
            <a:ext cx="8928100" cy="517254"/>
            <a:chOff x="8355106" y="2359449"/>
            <a:chExt cx="8928100" cy="517254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55106" y="2635420"/>
              <a:ext cx="6248400" cy="241283"/>
            </a:xfrm>
            <a:prstGeom prst="rect">
              <a:avLst/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8355106" y="2359449"/>
              <a:ext cx="8928100" cy="2159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-US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UI_JoyStick.cs - </a:t>
              </a:r>
              <a:r>
                <a:rPr lang="ko-KR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조이스틱</a:t>
              </a:r>
              <a:r>
                <a:rPr lang="en-US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드래그</a:t>
              </a:r>
              <a:r>
                <a:rPr lang="en-US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방향을</a:t>
              </a:r>
              <a:r>
                <a:rPr lang="en-US" altLang="ko-KR" sz="1500" b="1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GameManager</a:t>
              </a:r>
              <a:r>
                <a:rPr lang="ko-KR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에</a:t>
              </a:r>
              <a:r>
                <a:rPr lang="en-US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전달하여</a:t>
              </a:r>
              <a:r>
                <a:rPr lang="en-US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이동</a:t>
              </a:r>
              <a:r>
                <a:rPr lang="en-US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구현</a:t>
              </a: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2286000" y="5199376"/>
            <a:ext cx="11303000" cy="3140959"/>
            <a:chOff x="1244600" y="5220316"/>
            <a:chExt cx="11303000" cy="3140959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44600" y="5491075"/>
              <a:ext cx="4267200" cy="28702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1244600" y="5220316"/>
              <a:ext cx="11303000" cy="24380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-US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GameManager.cs - </a:t>
              </a:r>
              <a:r>
                <a:rPr lang="ko-KR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조이스틱</a:t>
              </a:r>
              <a:r>
                <a:rPr lang="en-US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입력</a:t>
              </a:r>
              <a:r>
                <a:rPr lang="en-US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값</a:t>
              </a:r>
              <a:r>
                <a:rPr lang="en-US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받아서</a:t>
              </a:r>
              <a:r>
                <a:rPr lang="en-US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전역</a:t>
              </a:r>
              <a:r>
                <a:rPr lang="en-US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이동</a:t>
              </a:r>
              <a:r>
                <a:rPr lang="en-US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정보로</a:t>
              </a:r>
              <a:r>
                <a:rPr lang="en-US" altLang="ko-KR" sz="1500" b="1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저장하고</a:t>
              </a:r>
              <a:r>
                <a:rPr lang="en-US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PlayerController</a:t>
              </a:r>
              <a:r>
                <a:rPr lang="ko-KR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에</a:t>
              </a:r>
              <a:r>
                <a:rPr lang="en-US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전달</a:t>
              </a:r>
              <a:endParaRPr lang="ko-KR" sz="15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15" name="슬라이드 번호 개체 틀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FantasyRPG PortFolio </a:t>
            </a:r>
            <a:fld id="{B6F15528-21DE-4FAA-801E-634DDDAF4B2B}" type="slidenum">
              <a:rPr lang="en-US" smtClean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pPr/>
              <a:t>8</a:t>
            </a:fld>
            <a:endParaRPr lang="en-US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16" name="TextBox 6"/>
          <p:cNvSpPr txBox="1"/>
          <p:nvPr/>
        </p:nvSpPr>
        <p:spPr>
          <a:xfrm>
            <a:off x="1244600" y="939800"/>
            <a:ext cx="8636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5000" b="0" i="0" u="none" strike="noStrike" spc="-200" dirty="0" smtClean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03</a:t>
            </a:r>
            <a:endParaRPr lang="en-US" sz="5000" b="0" i="0" u="none" strike="noStrike" spc="-200" dirty="0">
              <a:solidFill>
                <a:srgbClr val="404040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17" name="TextBox 7"/>
          <p:cNvSpPr txBox="1"/>
          <p:nvPr/>
        </p:nvSpPr>
        <p:spPr>
          <a:xfrm>
            <a:off x="2286000" y="1066800"/>
            <a:ext cx="55626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r>
              <a:rPr lang="ko-KR" altLang="ko-KR" sz="36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핵심</a:t>
            </a:r>
            <a:r>
              <a:rPr lang="en-US" altLang="ko-KR" sz="36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altLang="ko-KR" sz="36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기능</a:t>
            </a:r>
            <a:r>
              <a:rPr lang="en-US" altLang="ko-KR" sz="36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altLang="ko-KR" sz="36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구현</a:t>
            </a:r>
            <a:r>
              <a:rPr lang="en-US" altLang="ko-KR" sz="36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- </a:t>
            </a:r>
            <a:r>
              <a:rPr lang="ko-KR" altLang="ko-KR" sz="36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플레이어</a:t>
            </a:r>
            <a:r>
              <a:rPr lang="en-US" altLang="ko-KR" sz="36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altLang="ko-KR" sz="36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조작</a:t>
            </a:r>
            <a:endParaRPr lang="ko-KR" altLang="ko-KR" sz="3600" dirty="0">
              <a:solidFill>
                <a:srgbClr val="404040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0200" y="1948493"/>
            <a:ext cx="6252882" cy="30399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749300"/>
            <a:ext cx="16090900" cy="101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92200" y="9436100"/>
            <a:ext cx="16090900" cy="101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600" y="1981200"/>
            <a:ext cx="6083300" cy="3467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600" y="5651500"/>
            <a:ext cx="6083300" cy="3467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9200" y="2222500"/>
            <a:ext cx="4622800" cy="2641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68200" y="3115985"/>
            <a:ext cx="4724400" cy="1739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7569200" y="5413189"/>
            <a:ext cx="9677400" cy="3670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몬스터는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 err="1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랜덤하게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좌우로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이동하며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피격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애니메이션이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재생되고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일정</a:t>
            </a:r>
            <a:r>
              <a:rPr lang="en-US" altLang="ko-KR" sz="2400" b="1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400" b="1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ko-KR" sz="24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</a:t>
            </a:r>
            <a:r>
              <a:rPr lang="en-US" sz="24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정지한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후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다시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이동을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시작합니다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endParaRPr lang="en-US" sz="2400" b="1" i="0" u="none" strike="noStrike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체력이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0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되면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사망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애니메이션과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함께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골드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아이템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장비를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랜덤</a:t>
            </a:r>
            <a:r>
              <a:rPr lang="en-US" altLang="ko-KR" sz="2400" b="1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400" b="1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확률로</a:t>
            </a:r>
            <a:r>
              <a:rPr lang="en-US" sz="24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 err="1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드랍하며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sz="2400" b="1" i="0" u="none" strike="noStrike" dirty="0" err="1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드랍된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아이템은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일정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시간이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지나면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플레이어를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향해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자동으로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이동하</a:t>
            </a:r>
            <a:r>
              <a:rPr lang="ko-KR" altLang="en-US" sz="24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</a:t>
            </a:r>
            <a:r>
              <a:rPr lang="en-US" sz="24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획득됩니다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endParaRPr lang="en-US" sz="2400" b="1" i="0" u="none" strike="noStrike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생성된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아이템은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 err="1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드랍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각도와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중력을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적용해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자연스럽게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튀어나오는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효과를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표현했고</a:t>
            </a:r>
            <a:r>
              <a:rPr lang="en-US" sz="24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sz="24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모든</a:t>
            </a:r>
            <a:r>
              <a:rPr lang="en-US" sz="24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오브젝트는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오브젝트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 err="1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풀링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기반으로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재사용되어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성능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최적화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또한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고려하였습니다</a:t>
            </a:r>
            <a:r>
              <a:rPr lang="en-US" sz="24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268200" y="2874309"/>
            <a:ext cx="5753100" cy="62752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5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BaseItem.cs - </a:t>
            </a:r>
            <a:r>
              <a:rPr lang="ko-KR" sz="15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플레이어가</a:t>
            </a:r>
            <a:r>
              <a:rPr lang="en-US" sz="15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15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가까이</a:t>
            </a:r>
            <a:r>
              <a:rPr lang="en-US" sz="15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15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오면</a:t>
            </a:r>
            <a:r>
              <a:rPr lang="en-US" altLang="ko-KR" sz="1500" b="1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15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자동으로</a:t>
            </a:r>
            <a:r>
              <a:rPr lang="en-US" altLang="ko-KR" sz="15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15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이동해</a:t>
            </a:r>
            <a:r>
              <a:rPr lang="en-US" sz="15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15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수거됨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69200" y="1955799"/>
            <a:ext cx="72136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5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SlimeGreenController.cs - </a:t>
            </a:r>
            <a:r>
              <a:rPr lang="ko-KR" sz="15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아이템</a:t>
            </a:r>
            <a:r>
              <a:rPr lang="en-US" sz="15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1500" b="1" i="0" u="none" strike="noStrike" dirty="0" err="1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드랍</a:t>
            </a:r>
            <a:r>
              <a:rPr lang="en-US" sz="15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15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r>
              <a:rPr lang="en-US" sz="15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15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sz="15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15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퍼질</a:t>
            </a:r>
            <a:r>
              <a:rPr lang="en-US" sz="15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15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각도</a:t>
            </a:r>
            <a:r>
              <a:rPr lang="en-US" sz="15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15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설정</a:t>
            </a:r>
          </a:p>
        </p:txBody>
      </p:sp>
      <p:sp>
        <p:nvSpPr>
          <p:cNvPr id="15" name="슬라이드 번호 개체 틀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FantasyRPG PortFolio </a:t>
            </a:r>
            <a:fld id="{B6F15528-21DE-4FAA-801E-634DDDAF4B2B}" type="slidenum">
              <a:rPr lang="en-US" smtClean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pPr/>
              <a:t>9</a:t>
            </a:fld>
            <a:endParaRPr lang="en-US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20" name="TextBox 6"/>
          <p:cNvSpPr txBox="1"/>
          <p:nvPr/>
        </p:nvSpPr>
        <p:spPr>
          <a:xfrm>
            <a:off x="1244600" y="939800"/>
            <a:ext cx="8636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5000" b="0" i="0" u="none" strike="noStrike" spc="-200" dirty="0" smtClean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03</a:t>
            </a:r>
            <a:endParaRPr lang="en-US" sz="5000" b="0" i="0" u="none" strike="noStrike" spc="-200" dirty="0">
              <a:solidFill>
                <a:srgbClr val="404040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21" name="TextBox 7"/>
          <p:cNvSpPr txBox="1"/>
          <p:nvPr/>
        </p:nvSpPr>
        <p:spPr>
          <a:xfrm>
            <a:off x="2286000" y="1066800"/>
            <a:ext cx="70104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r>
              <a:rPr lang="ko-KR" altLang="ko-KR" sz="36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핵심</a:t>
            </a:r>
            <a:r>
              <a:rPr lang="en-US" altLang="ko-KR" sz="36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altLang="ko-KR" sz="36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기능</a:t>
            </a:r>
            <a:r>
              <a:rPr lang="en-US" altLang="ko-KR" sz="36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altLang="ko-KR" sz="36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구현</a:t>
            </a:r>
            <a:r>
              <a:rPr lang="en-US" altLang="ko-KR" sz="36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en-US" altLang="ko-KR" sz="3600" dirty="0" smtClean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– </a:t>
            </a:r>
            <a:r>
              <a:rPr lang="ko-KR" altLang="en-US" sz="3600" dirty="0" smtClean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몬스터 </a:t>
            </a:r>
            <a:r>
              <a:rPr lang="en-US" altLang="ko-KR" sz="3600" dirty="0" smtClean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AI &amp; </a:t>
            </a:r>
            <a:r>
              <a:rPr lang="ko-KR" altLang="en-US" sz="3600" dirty="0" err="1" smtClean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드랍</a:t>
            </a:r>
            <a:r>
              <a:rPr lang="ko-KR" altLang="en-US" sz="3600" dirty="0" smtClean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처리</a:t>
            </a:r>
            <a:endParaRPr lang="ko-KR" altLang="ko-KR" sz="3600" dirty="0">
              <a:solidFill>
                <a:srgbClr val="404040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22" name="TextBox 11"/>
          <p:cNvSpPr txBox="1"/>
          <p:nvPr/>
        </p:nvSpPr>
        <p:spPr>
          <a:xfrm>
            <a:off x="2286000" y="1524000"/>
            <a:ext cx="65278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ko-KR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랜덤</a:t>
            </a:r>
            <a:r>
              <a:rPr lang="en-US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이동</a:t>
            </a:r>
            <a:r>
              <a:rPr lang="en-US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+ </a:t>
            </a:r>
            <a:r>
              <a:rPr lang="ko-KR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피격</a:t>
            </a:r>
            <a:r>
              <a:rPr lang="en-US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애니메이션</a:t>
            </a:r>
            <a:r>
              <a:rPr lang="en-US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+ </a:t>
            </a:r>
            <a:r>
              <a:rPr lang="ko-KR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사망</a:t>
            </a:r>
            <a:r>
              <a:rPr lang="en-US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r>
              <a:rPr lang="en-US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아이템</a:t>
            </a:r>
            <a:r>
              <a:rPr lang="en-US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b="1" spc="-100" dirty="0" err="1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드랍</a:t>
            </a:r>
            <a:endParaRPr lang="ko-KR" altLang="ko-KR" b="1" spc="-100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749300"/>
            <a:ext cx="16090900" cy="101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92200" y="9436100"/>
            <a:ext cx="16090900" cy="101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600" y="2311036"/>
            <a:ext cx="4837205" cy="3095811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600" y="5789724"/>
            <a:ext cx="4842621" cy="3104758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049000" y="6394039"/>
            <a:ext cx="6248400" cy="264836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일반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아이템은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스택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방식으로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저장되고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sz="21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장비</a:t>
            </a:r>
            <a:r>
              <a:rPr lang="en-US" sz="21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br>
              <a:rPr lang="en-US" sz="21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sz="21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아이템은</a:t>
            </a:r>
            <a:r>
              <a:rPr lang="en-US" altLang="ko-KR" sz="2100" b="1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종류별</a:t>
            </a:r>
            <a:r>
              <a:rPr lang="en-US" sz="21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슬롯에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구분하여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장착됩니다</a:t>
            </a:r>
            <a:r>
              <a:rPr lang="en-US" sz="21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342900" lvl="0" indent="-342900" algn="l">
              <a:lnSpc>
                <a:spcPct val="50000"/>
              </a:lnSpc>
              <a:buFont typeface="Arial" panose="020B0604020202020204" pitchFamily="34" charset="0"/>
              <a:buChar char="•"/>
            </a:pPr>
            <a:endParaRPr lang="en-US" sz="2100" b="1" i="0" u="none" strike="noStrike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장비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장착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플레이어와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 err="1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인벤토리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캐릭터에</a:t>
            </a:r>
            <a:r>
              <a:rPr lang="en-US" altLang="ko-KR" sz="2100" b="1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br>
              <a:rPr lang="en-US" altLang="ko-KR" sz="2100" b="1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sz="21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모두</a:t>
            </a:r>
            <a:r>
              <a:rPr lang="en-US" sz="21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실시간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반영되어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외형이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바뀌며</a:t>
            </a:r>
            <a:r>
              <a:rPr lang="en-US" sz="21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sz="21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같은</a:t>
            </a:r>
            <a:r>
              <a:rPr lang="en-US" sz="21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장비가</a:t>
            </a:r>
            <a:r>
              <a:rPr lang="en-US" altLang="ko-KR" sz="2100" b="1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br>
              <a:rPr lang="en-US" altLang="ko-KR" sz="2100" b="1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sz="21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이미</a:t>
            </a:r>
            <a:r>
              <a:rPr lang="en-US" sz="21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장착되어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있으면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비활성화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후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새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장비로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교체됩니다</a:t>
            </a:r>
            <a:r>
              <a:rPr lang="en-US" sz="21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342900" lvl="0" indent="-342900" algn="l">
              <a:lnSpc>
                <a:spcPct val="50000"/>
              </a:lnSpc>
              <a:buFont typeface="Arial" panose="020B0604020202020204" pitchFamily="34" charset="0"/>
              <a:buChar char="•"/>
            </a:pPr>
            <a:endParaRPr lang="en-US" sz="2100" b="1" i="0" u="none" strike="noStrike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더블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클릭으로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장착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해제가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가능하며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sz="21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확장</a:t>
            </a:r>
            <a:r>
              <a:rPr lang="en-US" altLang="ko-KR" sz="2100" b="1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br>
              <a:rPr lang="en-US" altLang="ko-KR" sz="2100" b="1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sz="21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가능한</a:t>
            </a:r>
            <a:r>
              <a:rPr lang="en-US" sz="21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구조로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설계하였습니다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grpSp>
        <p:nvGrpSpPr>
          <p:cNvPr id="23" name="그룹 22"/>
          <p:cNvGrpSpPr/>
          <p:nvPr/>
        </p:nvGrpSpPr>
        <p:grpSpPr>
          <a:xfrm>
            <a:off x="6582801" y="2247900"/>
            <a:ext cx="4559300" cy="3835400"/>
            <a:chOff x="7239000" y="1770156"/>
            <a:chExt cx="4559300" cy="3835400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39000" y="2227356"/>
              <a:ext cx="4521200" cy="3378200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7239000" y="1770156"/>
              <a:ext cx="4559300" cy="5207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-US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UI_Inventory.cs - </a:t>
              </a:r>
              <a:r>
                <a:rPr lang="ko-KR" sz="1500" b="1" i="0" u="none" strike="noStrike" dirty="0" err="1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인벤토리</a:t>
              </a:r>
              <a:r>
                <a:rPr lang="en-US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슬롯에</a:t>
              </a:r>
              <a:r>
                <a:rPr lang="en-US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아이템</a:t>
              </a:r>
              <a:r>
                <a:rPr lang="en-US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추가</a:t>
              </a:r>
              <a:r>
                <a:rPr lang="en-US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</a:t>
              </a:r>
              <a:br>
                <a:rPr lang="en-US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en-US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	               </a:t>
              </a:r>
              <a:r>
                <a:rPr lang="ko-KR" altLang="en-US" sz="1500" b="1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같은</a:t>
              </a:r>
              <a:r>
                <a:rPr lang="en-US" altLang="ko-KR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아이템이면</a:t>
              </a:r>
              <a:r>
                <a:rPr lang="en-US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스택</a:t>
              </a:r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6582801" y="6422072"/>
            <a:ext cx="4559300" cy="2472410"/>
            <a:chOff x="7518400" y="6108700"/>
            <a:chExt cx="4559300" cy="2472410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18400" y="6604000"/>
              <a:ext cx="2806700" cy="1977110"/>
            </a:xfrm>
            <a:prstGeom prst="rect">
              <a:avLst/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7518400" y="6108700"/>
              <a:ext cx="4559300" cy="5207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-US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InventorySlot.cs - </a:t>
              </a:r>
              <a:r>
                <a:rPr lang="ko-KR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아이템</a:t>
              </a:r>
              <a:r>
                <a:rPr lang="en-US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슬롯</a:t>
              </a:r>
              <a:r>
                <a:rPr lang="en-US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더블클릭</a:t>
              </a:r>
              <a:r>
                <a:rPr lang="en-US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시</a:t>
              </a:r>
              <a:r>
                <a:rPr lang="en-US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장비</a:t>
              </a:r>
              <a:r>
                <a:rPr lang="en-US" altLang="ko-KR" sz="1500" b="1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br>
                <a:rPr lang="en-US" altLang="ko-KR" sz="1500" b="1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en-US" altLang="ko-KR" sz="1500" b="1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	                 </a:t>
              </a:r>
              <a:r>
                <a:rPr lang="ko-KR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슬롯으로</a:t>
              </a:r>
              <a:r>
                <a:rPr lang="en-US" altLang="ko-KR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이동</a:t>
              </a:r>
              <a:r>
                <a:rPr lang="en-US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및</a:t>
              </a:r>
              <a:r>
                <a:rPr lang="en-US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장착</a:t>
              </a:r>
              <a:r>
                <a:rPr lang="en-US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처리</a:t>
              </a:r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11633200" y="1854200"/>
            <a:ext cx="5080000" cy="4377384"/>
            <a:chOff x="12093389" y="1838157"/>
            <a:chExt cx="5080000" cy="4377384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097871" y="2358857"/>
              <a:ext cx="4584142" cy="3856684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12093389" y="1838157"/>
              <a:ext cx="5080000" cy="5207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-US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InventoryPlayer.cs - </a:t>
              </a:r>
              <a:r>
                <a:rPr lang="ko-KR" sz="1500" b="1" i="0" u="none" strike="noStrike" dirty="0" err="1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인벤토리</a:t>
              </a:r>
              <a:r>
                <a:rPr lang="en-US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UI </a:t>
              </a:r>
              <a:r>
                <a:rPr lang="ko-KR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상에</a:t>
              </a:r>
              <a:r>
                <a:rPr lang="en-US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보이는</a:t>
              </a:r>
              <a:r>
                <a:rPr lang="en-US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캐릭터</a:t>
              </a:r>
              <a:r>
                <a:rPr lang="en-US" altLang="ko-KR" sz="1500" b="1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br>
                <a:rPr lang="en-US" altLang="ko-KR" sz="1500" b="1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en-US" altLang="ko-KR" sz="1500" b="1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	</a:t>
              </a:r>
              <a:r>
                <a:rPr lang="en-US" altLang="ko-KR" sz="1500" b="1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                     </a:t>
              </a:r>
              <a:r>
                <a:rPr lang="ko-KR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외형에도</a:t>
              </a:r>
              <a:r>
                <a:rPr lang="en-US" altLang="ko-KR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장비</a:t>
              </a:r>
              <a:r>
                <a:rPr lang="en-US" sz="15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5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반영</a:t>
              </a:r>
            </a:p>
          </p:txBody>
        </p:sp>
      </p:grpSp>
      <p:sp>
        <p:nvSpPr>
          <p:cNvPr id="17" name="슬라이드 번호 개체 틀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FantasyRPG PortFolio </a:t>
            </a:r>
            <a:fld id="{B6F15528-21DE-4FAA-801E-634DDDAF4B2B}" type="slidenum">
              <a:rPr lang="en-US" smtClean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pPr/>
              <a:t>10</a:t>
            </a:fld>
            <a:endParaRPr lang="en-US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20" name="TextBox 6"/>
          <p:cNvSpPr txBox="1"/>
          <p:nvPr/>
        </p:nvSpPr>
        <p:spPr>
          <a:xfrm>
            <a:off x="1244600" y="939800"/>
            <a:ext cx="8636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5000" b="0" i="0" u="none" strike="noStrike" spc="-200" dirty="0" smtClean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03</a:t>
            </a:r>
            <a:endParaRPr lang="en-US" sz="5000" b="0" i="0" u="none" strike="noStrike" spc="-200" dirty="0">
              <a:solidFill>
                <a:srgbClr val="404040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21" name="TextBox 7"/>
          <p:cNvSpPr txBox="1"/>
          <p:nvPr/>
        </p:nvSpPr>
        <p:spPr>
          <a:xfrm>
            <a:off x="2286000" y="1066800"/>
            <a:ext cx="70104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r>
              <a:rPr lang="ko-KR" altLang="ko-KR" sz="36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핵심</a:t>
            </a:r>
            <a:r>
              <a:rPr lang="en-US" altLang="ko-KR" sz="36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altLang="ko-KR" sz="36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기능</a:t>
            </a:r>
            <a:r>
              <a:rPr lang="en-US" altLang="ko-KR" sz="36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altLang="ko-KR" sz="36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구현</a:t>
            </a:r>
            <a:r>
              <a:rPr lang="en-US" altLang="ko-KR" sz="36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en-US" altLang="ko-KR" sz="3600" dirty="0" smtClean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– </a:t>
            </a:r>
            <a:r>
              <a:rPr lang="ko-KR" altLang="en-US" sz="3600" dirty="0" err="1" smtClean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인벤토리</a:t>
            </a:r>
            <a:r>
              <a:rPr lang="ko-KR" altLang="en-US" sz="3600" dirty="0" smtClean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시스템</a:t>
            </a:r>
            <a:endParaRPr lang="ko-KR" altLang="ko-KR" sz="3600" dirty="0">
              <a:solidFill>
                <a:srgbClr val="404040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22" name="TextBox 11"/>
          <p:cNvSpPr txBox="1"/>
          <p:nvPr/>
        </p:nvSpPr>
        <p:spPr>
          <a:xfrm>
            <a:off x="2286000" y="1524000"/>
            <a:ext cx="65278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ko-KR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아이템</a:t>
            </a:r>
            <a:r>
              <a:rPr lang="en-US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저장</a:t>
            </a:r>
            <a:r>
              <a:rPr lang="en-US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/ </a:t>
            </a:r>
            <a:r>
              <a:rPr lang="ko-KR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r>
              <a:rPr lang="en-US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스택</a:t>
            </a:r>
            <a:r>
              <a:rPr lang="en-US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/ </a:t>
            </a:r>
            <a:r>
              <a:rPr lang="ko-KR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장비</a:t>
            </a:r>
            <a:r>
              <a:rPr lang="en-US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분리</a:t>
            </a:r>
            <a:r>
              <a:rPr lang="en-US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장착</a:t>
            </a:r>
            <a:r>
              <a:rPr lang="en-US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r>
              <a:rPr lang="en-US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외형</a:t>
            </a:r>
            <a:r>
              <a:rPr lang="en-US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반영</a:t>
            </a:r>
            <a:endParaRPr lang="ko-KR" altLang="ko-KR" b="1" spc="-100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749300"/>
            <a:ext cx="16090900" cy="101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92200" y="9436100"/>
            <a:ext cx="16090900" cy="101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0" y="1955800"/>
            <a:ext cx="5422900" cy="3581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1" y="5662705"/>
            <a:ext cx="5422899" cy="3562724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776200" y="2598270"/>
            <a:ext cx="4216400" cy="2286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게임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상호작용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가능한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상점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NPC</a:t>
            </a:r>
            <a:r>
              <a:rPr lang="ko-KR" sz="2100" b="1" i="0" u="none" strike="noStrike" dirty="0" err="1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통해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아이템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구매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판매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기능을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구현했습니다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lvl="0" algn="l">
              <a:lnSpc>
                <a:spcPct val="99600"/>
              </a:lnSpc>
            </a:pPr>
            <a:endParaRPr lang="en-US" sz="2100" b="1" i="0" u="none" strike="noStrike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더블클릭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방식의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UX</a:t>
            </a:r>
            <a:r>
              <a:rPr lang="ko-KR" sz="2100" b="1" i="0" u="none" strike="noStrike" dirty="0" err="1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적용해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모바일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환경에서도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직관적인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구매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판매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동작이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가능하게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했습니다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grpSp>
        <p:nvGrpSpPr>
          <p:cNvPr id="20" name="그룹 19"/>
          <p:cNvGrpSpPr/>
          <p:nvPr/>
        </p:nvGrpSpPr>
        <p:grpSpPr>
          <a:xfrm>
            <a:off x="7327900" y="5662705"/>
            <a:ext cx="5181600" cy="3582894"/>
            <a:chOff x="7327900" y="5662705"/>
            <a:chExt cx="5181600" cy="3582894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27900" y="5916705"/>
              <a:ext cx="4940300" cy="3328894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7327900" y="5662705"/>
              <a:ext cx="5181600" cy="2540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UI_Shop.cs </a:t>
              </a:r>
              <a:r>
                <a:rPr lang="en-US" sz="16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– </a:t>
              </a:r>
              <a:r>
                <a:rPr lang="ko-KR" sz="16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판매</a:t>
              </a:r>
              <a:r>
                <a:rPr lang="en-US" altLang="ko-KR" sz="16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확정</a:t>
              </a:r>
              <a:r>
                <a:rPr lang="en-US" sz="16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시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골드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증가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+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슬롯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수량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감소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or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제거</a:t>
              </a:r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7327900" y="1893796"/>
            <a:ext cx="5778500" cy="3643404"/>
            <a:chOff x="7327900" y="1893796"/>
            <a:chExt cx="5778500" cy="3643404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27900" y="2159000"/>
              <a:ext cx="4940300" cy="3378200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7327900" y="1893796"/>
              <a:ext cx="5778500" cy="26520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ShopInventorySlot.cs - </a:t>
              </a:r>
              <a:r>
                <a:rPr lang="ko-KR" sz="1600" b="1" i="0" u="none" strike="noStrike" dirty="0" err="1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인벤토리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아이템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더블클릭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시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판매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팝업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열림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776200" y="6253628"/>
            <a:ext cx="3810000" cy="265504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현재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보유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골드가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실시간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반영되며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아이템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구매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 err="1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인벤토리에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자동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추가되고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판매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수량이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감소하거나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제거됩니다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lvl="0" algn="l">
              <a:lnSpc>
                <a:spcPct val="99600"/>
              </a:lnSpc>
            </a:pPr>
            <a:endParaRPr lang="en-US" sz="2100" b="1" i="0" u="none" strike="noStrike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상점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시스템은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Inventory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시스템과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연동되어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작동합니다</a:t>
            </a:r>
            <a:r>
              <a:rPr lang="en-US" sz="21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FantasyRPG PortFolio </a:t>
            </a:r>
            <a:fld id="{B6F15528-21DE-4FAA-801E-634DDDAF4B2B}" type="slidenum">
              <a:rPr lang="en-US" smtClean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pPr/>
              <a:t>11</a:t>
            </a:fld>
            <a:endParaRPr lang="en-US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17" name="TextBox 6"/>
          <p:cNvSpPr txBox="1"/>
          <p:nvPr/>
        </p:nvSpPr>
        <p:spPr>
          <a:xfrm>
            <a:off x="1244600" y="939800"/>
            <a:ext cx="8636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5000" b="0" i="0" u="none" strike="noStrike" spc="-200" dirty="0" smtClean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03</a:t>
            </a:r>
            <a:endParaRPr lang="en-US" sz="5000" b="0" i="0" u="none" strike="noStrike" spc="-200" dirty="0">
              <a:solidFill>
                <a:srgbClr val="404040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18" name="TextBox 7"/>
          <p:cNvSpPr txBox="1"/>
          <p:nvPr/>
        </p:nvSpPr>
        <p:spPr>
          <a:xfrm>
            <a:off x="2286000" y="1066800"/>
            <a:ext cx="70104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r>
              <a:rPr lang="ko-KR" altLang="ko-KR" sz="36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핵심</a:t>
            </a:r>
            <a:r>
              <a:rPr lang="en-US" altLang="ko-KR" sz="36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altLang="ko-KR" sz="36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기능</a:t>
            </a:r>
            <a:r>
              <a:rPr lang="en-US" altLang="ko-KR" sz="36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altLang="ko-KR" sz="36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구현</a:t>
            </a:r>
            <a:r>
              <a:rPr lang="en-US" altLang="ko-KR" sz="36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en-US" altLang="ko-KR" sz="3600" dirty="0" smtClean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– </a:t>
            </a:r>
            <a:r>
              <a:rPr lang="ko-KR" altLang="en-US" sz="3600" dirty="0" smtClean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상점 시스템</a:t>
            </a:r>
            <a:endParaRPr lang="ko-KR" altLang="ko-KR" sz="3600" dirty="0">
              <a:solidFill>
                <a:srgbClr val="404040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19" name="TextBox 11"/>
          <p:cNvSpPr txBox="1"/>
          <p:nvPr/>
        </p:nvSpPr>
        <p:spPr>
          <a:xfrm>
            <a:off x="2286000" y="1524000"/>
            <a:ext cx="65278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ko-KR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상점</a:t>
            </a:r>
            <a:r>
              <a:rPr lang="en-US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NPC, </a:t>
            </a:r>
            <a:r>
              <a:rPr lang="ko-KR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아이템</a:t>
            </a:r>
            <a:r>
              <a:rPr lang="en-US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구매</a:t>
            </a:r>
            <a:r>
              <a:rPr lang="en-US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판매</a:t>
            </a:r>
            <a:r>
              <a:rPr lang="en-US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b="1" spc="-10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기능</a:t>
            </a:r>
            <a:endParaRPr lang="ko-KR" altLang="ko-KR" b="1" spc="-100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/>
          </p:cNvSpPr>
          <p:nvPr/>
        </p:nvSpPr>
        <p:spPr>
          <a:xfrm>
            <a:off x="5969000" y="1282700"/>
            <a:ext cx="6350635" cy="1423035"/>
          </a:xfrm>
          <a:prstGeom prst="rect">
            <a:avLst/>
          </a:prstGeom>
        </p:spPr>
        <p:txBody>
          <a:bodyPr vert="horz" wrap="square" lIns="0" tIns="0" rIns="0" bIns="0" numCol="1" rtlCol="1" anchor="ctr">
            <a:noAutofit/>
          </a:bodyPr>
          <a:lstStyle/>
          <a:p>
            <a:pPr marL="0" indent="0" algn="ctr">
              <a:lnSpc>
                <a:spcPct val="83000"/>
              </a:lnSpc>
              <a:buFontTx/>
              <a:buNone/>
            </a:pPr>
            <a:r>
              <a:rPr lang="ko-KR" sz="8000" b="0" i="0" strike="noStrike" spc="-29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04</a:t>
            </a:r>
            <a:endParaRPr lang="ko-KR" altLang="en-US" sz="8000" b="0" i="0" strike="noStrike" dirty="0">
              <a:solidFill>
                <a:srgbClr val="404040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13" name="Rect 0"/>
          <p:cNvSpPr txBox="1">
            <a:spLocks/>
          </p:cNvSpPr>
          <p:nvPr/>
        </p:nvSpPr>
        <p:spPr>
          <a:xfrm>
            <a:off x="6202045" y="2947670"/>
            <a:ext cx="5888990" cy="956310"/>
          </a:xfrm>
          <a:prstGeom prst="rect">
            <a:avLst/>
          </a:prstGeom>
        </p:spPr>
        <p:txBody>
          <a:bodyPr vert="horz" wrap="square" lIns="0" tIns="0" rIns="0" bIns="0" numCol="1" rtlCol="1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ko-KR" sz="6000" b="0" i="0" strike="noStrike" spc="-19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구조</a:t>
            </a:r>
            <a:r>
              <a:rPr lang="en-US" sz="6000" b="0" i="0" strike="noStrike" spc="-19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sz="6000" b="0" i="0" strike="noStrike" spc="-19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설계</a:t>
            </a:r>
            <a:r>
              <a:rPr lang="en-US" sz="6000" b="0" i="0" strike="noStrike" spc="-19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sz="6000" b="0" i="0" strike="noStrike" spc="-19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및</a:t>
            </a:r>
            <a:r>
              <a:rPr lang="en-US" sz="6000" b="0" i="0" strike="noStrike" spc="-19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 </a:t>
            </a:r>
            <a:r>
              <a:rPr lang="ko-KR" sz="6000" b="0" i="0" strike="noStrike" spc="-19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최적화</a:t>
            </a:r>
            <a:endParaRPr lang="ko-KR" altLang="en-US" sz="6000" b="0" i="0" strike="noStrike" dirty="0">
              <a:solidFill>
                <a:srgbClr val="404040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14" name="Rect 0"/>
          <p:cNvSpPr txBox="1">
            <a:spLocks/>
          </p:cNvSpPr>
          <p:nvPr/>
        </p:nvSpPr>
        <p:spPr>
          <a:xfrm>
            <a:off x="4548505" y="5559425"/>
            <a:ext cx="9192260" cy="1993900"/>
          </a:xfrm>
          <a:prstGeom prst="rect">
            <a:avLst/>
          </a:prstGeom>
        </p:spPr>
        <p:txBody>
          <a:bodyPr vert="horz" wrap="square" lIns="0" tIns="0" rIns="0" bIns="0" numCol="1" rtlCol="1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ko-KR" sz="4800" b="1" i="0" strike="noStrike" spc="-9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어떤</a:t>
            </a:r>
            <a:r>
              <a:rPr lang="en-US" sz="4800" b="1" i="0" strike="noStrike" spc="-9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4800" b="1" i="0" strike="noStrike" spc="-9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식으로</a:t>
            </a:r>
            <a:r>
              <a:rPr lang="en-US" sz="4800" b="1" i="0" strike="noStrike" spc="-9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4800" b="1" i="0" strike="noStrike" spc="-9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구조를</a:t>
            </a:r>
            <a:r>
              <a:rPr lang="en-US" sz="4800" b="1" i="0" strike="noStrike" spc="-9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4800" b="1" i="0" strike="noStrike" spc="-90" dirty="0" err="1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설계했을까요</a:t>
            </a:r>
            <a:r>
              <a:rPr lang="ko-KR" sz="4800" b="1" i="0" strike="noStrike" spc="-90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ko-KR" altLang="en-US" sz="4800" b="1" i="0" strike="noStrike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20" name="Picture " descr="C:/Users/rtysu/AppData/Roaming/PolarisOffice/ETemp/1916_7275256/image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" y="749300"/>
            <a:ext cx="16091535" cy="102235"/>
          </a:xfrm>
          <a:prstGeom prst="rect">
            <a:avLst/>
          </a:prstGeom>
          <a:noFill/>
        </p:spPr>
      </p:pic>
      <p:pic>
        <p:nvPicPr>
          <p:cNvPr id="21" name="Picture " descr="C:/Users/rtysu/AppData/Roaming/PolarisOffice/ETemp/1916_7275256/image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92200" y="9436100"/>
            <a:ext cx="16091535" cy="102235"/>
          </a:xfrm>
          <a:prstGeom prst="rect">
            <a:avLst/>
          </a:prstGeom>
          <a:noFill/>
        </p:spPr>
      </p:pic>
      <p:pic>
        <p:nvPicPr>
          <p:cNvPr id="10" name="Picture " descr="C:/Users/rtysu/AppData/Roaming/PolarisOffice/ETemp/1916_7275256/image3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183" y="2408555"/>
            <a:ext cx="3429635" cy="6794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749300"/>
            <a:ext cx="16090900" cy="101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92200" y="9436100"/>
            <a:ext cx="16090900" cy="1016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8039847" y="1041400"/>
            <a:ext cx="9152218" cy="1220368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게임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전반의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상태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자원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관리를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위해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Singleton&lt;T&gt; </a:t>
            </a:r>
            <a:r>
              <a:rPr lang="ko-KR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기반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구조를</a:t>
            </a:r>
            <a:r>
              <a:rPr lang="en-US" altLang="ko-KR" sz="2000" b="1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설계하였습니다</a:t>
            </a:r>
            <a:r>
              <a:rPr lang="en-US" sz="20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lvl="0" algn="l">
              <a:lnSpc>
                <a:spcPct val="50000"/>
              </a:lnSpc>
            </a:pPr>
            <a:endParaRPr lang="en-US" sz="2000" b="1" i="0" u="none" strike="noStrike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GameManager, ObjectManager, PoolManager </a:t>
            </a:r>
            <a:r>
              <a:rPr lang="ko-KR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주요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매니저는</a:t>
            </a:r>
            <a:r>
              <a:rPr lang="en-US" altLang="ko-KR" sz="2000" b="1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전역</a:t>
            </a:r>
            <a:r>
              <a:rPr lang="en-US" sz="20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접근</a:t>
            </a:r>
            <a:r>
              <a:rPr lang="en-US" altLang="ko-KR" sz="2000" b="1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가능하도록</a:t>
            </a:r>
            <a:r>
              <a:rPr lang="en-US" altLang="ko-KR" sz="2000" b="1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</a:t>
            </a:r>
            <a:r>
              <a:rPr lang="ko-KR" sz="20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현되어</a:t>
            </a:r>
            <a:r>
              <a:rPr lang="en-US" altLang="ko-KR" sz="20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각</a:t>
            </a:r>
            <a:r>
              <a:rPr lang="en-US" sz="20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시스템이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상호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유기적으로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연결될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</a:t>
            </a:r>
            <a:r>
              <a:rPr lang="en-US" altLang="ko-KR" sz="2000" b="1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있도록</a:t>
            </a:r>
            <a:r>
              <a:rPr lang="en-US" sz="20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구조화</a:t>
            </a:r>
            <a:r>
              <a:rPr lang="en-US" altLang="ko-KR" sz="20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하였습니다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grpSp>
        <p:nvGrpSpPr>
          <p:cNvPr id="50" name="그룹 49"/>
          <p:cNvGrpSpPr/>
          <p:nvPr/>
        </p:nvGrpSpPr>
        <p:grpSpPr>
          <a:xfrm>
            <a:off x="12192000" y="2254250"/>
            <a:ext cx="5029200" cy="6838950"/>
            <a:chOff x="12192000" y="2254250"/>
            <a:chExt cx="5029200" cy="68389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192000" y="2808825"/>
              <a:ext cx="4800600" cy="6284375"/>
            </a:xfrm>
            <a:prstGeom prst="rect">
              <a:avLst/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12192000" y="2254250"/>
              <a:ext cx="5029200" cy="5207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Singleton.cs -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전역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접근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가능한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 err="1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싱글톤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인스턴스를</a:t>
              </a:r>
              <a:endParaRPr lang="en-US" altLang="ko-KR" sz="1600" b="1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lvl="0" algn="l">
                <a:lnSpc>
                  <a:spcPct val="99600"/>
                </a:lnSpc>
              </a:pPr>
              <a:r>
                <a:rPr lang="en-US" alt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	</a:t>
              </a:r>
              <a:r>
                <a:rPr lang="en-US" altLang="ko-KR" sz="16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         </a:t>
              </a:r>
              <a:r>
                <a:rPr lang="ko-KR" sz="16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생성하고</a:t>
              </a:r>
              <a:r>
                <a:rPr lang="en-US" sz="16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유지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관리</a:t>
              </a:r>
            </a:p>
          </p:txBody>
        </p:sp>
      </p:grpSp>
      <p:grpSp>
        <p:nvGrpSpPr>
          <p:cNvPr id="49" name="그룹 48"/>
          <p:cNvGrpSpPr/>
          <p:nvPr/>
        </p:nvGrpSpPr>
        <p:grpSpPr>
          <a:xfrm>
            <a:off x="7188200" y="2298700"/>
            <a:ext cx="4648200" cy="1549400"/>
            <a:chOff x="7188200" y="2298700"/>
            <a:chExt cx="4648200" cy="154940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88200" y="2819400"/>
              <a:ext cx="4648200" cy="10287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7188200" y="2298700"/>
              <a:ext cx="4419600" cy="5207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GameManager.cs -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플레이어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정보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및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레벨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골드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-US" sz="16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		 </a:t>
              </a:r>
              <a:r>
                <a:rPr lang="ko-KR" sz="16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경험치</a:t>
              </a:r>
              <a:r>
                <a:rPr lang="en-US" sz="16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등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게임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전체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상태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관리</a:t>
              </a:r>
            </a:p>
          </p:txBody>
        </p:sp>
      </p:grpSp>
      <p:grpSp>
        <p:nvGrpSpPr>
          <p:cNvPr id="47" name="그룹 46"/>
          <p:cNvGrpSpPr/>
          <p:nvPr/>
        </p:nvGrpSpPr>
        <p:grpSpPr>
          <a:xfrm>
            <a:off x="1244600" y="6515100"/>
            <a:ext cx="5943600" cy="2590800"/>
            <a:chOff x="1244600" y="6515100"/>
            <a:chExt cx="5943600" cy="2590800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44600" y="7048500"/>
              <a:ext cx="5842000" cy="205740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1244600" y="6515100"/>
              <a:ext cx="5943600" cy="5207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ObjectManager.cs -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리소스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 err="1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프리팹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로드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플레이어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및</a:t>
              </a:r>
              <a:r>
                <a:rPr lang="en-US" altLang="ko-KR" sz="1600" b="1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br>
                <a:rPr lang="en-US" altLang="ko-KR" sz="1600" b="1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</a:br>
              <a:r>
                <a:rPr lang="en-US" altLang="ko-KR" sz="1600" b="1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	</a:t>
              </a:r>
              <a:r>
                <a:rPr lang="en-US" altLang="ko-KR" sz="1600" b="1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	   </a:t>
              </a:r>
              <a:r>
                <a:rPr lang="ko-KR" sz="16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몬스터</a:t>
              </a:r>
              <a:r>
                <a:rPr lang="en-US" sz="16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오브젝트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생성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및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관리</a:t>
              </a:r>
            </a:p>
          </p:txBody>
        </p:sp>
      </p:grpSp>
      <p:grpSp>
        <p:nvGrpSpPr>
          <p:cNvPr id="48" name="그룹 47"/>
          <p:cNvGrpSpPr/>
          <p:nvPr/>
        </p:nvGrpSpPr>
        <p:grpSpPr>
          <a:xfrm>
            <a:off x="7188200" y="4038600"/>
            <a:ext cx="4864100" cy="5067300"/>
            <a:chOff x="7188200" y="4038600"/>
            <a:chExt cx="4864100" cy="5067300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188200" y="4559300"/>
              <a:ext cx="4864100" cy="4546600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7188200" y="4038600"/>
              <a:ext cx="4648200" cy="5207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PoolManager.cs -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몬스터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및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아이템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등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오브젝트들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sz="16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		                  </a:t>
              </a:r>
              <a:r>
                <a:rPr lang="ko-KR" sz="16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재사용</a:t>
              </a:r>
              <a:r>
                <a:rPr lang="en-US" sz="1600" b="1" i="0" u="none" strike="noStrike" dirty="0" smtClean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가능하게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 err="1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풀링하여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관리</a:t>
              </a:r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1244600" y="2235200"/>
            <a:ext cx="6019800" cy="3429000"/>
            <a:chOff x="1092200" y="2527300"/>
            <a:chExt cx="6210300" cy="3416300"/>
          </a:xfrm>
        </p:grpSpPr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92200" y="2527300"/>
              <a:ext cx="1803400" cy="381000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-10800000">
              <a:off x="1435100" y="2908300"/>
              <a:ext cx="355600" cy="520700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816100" y="3098800"/>
              <a:ext cx="1892300" cy="444500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1276350" y="2540000"/>
              <a:ext cx="1498600" cy="342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400" b="0" i="0" u="none" strike="noStrike" dirty="0">
                  <a:solidFill>
                    <a:srgbClr val="F8F8F8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Singleton&lt;T&gt;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38350" y="3175000"/>
              <a:ext cx="1473200" cy="304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400" b="0" i="0" u="none" strike="noStrike" dirty="0">
                  <a:solidFill>
                    <a:srgbClr val="F8F8F8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GameManager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84600" y="3162300"/>
              <a:ext cx="3175000" cy="304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sz="1600" b="0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플레이어</a:t>
              </a:r>
              <a:r>
                <a:rPr lang="en-US" sz="1600" b="0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0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상태</a:t>
              </a:r>
              <a:r>
                <a:rPr lang="en-US" sz="1600" b="0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0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및</a:t>
              </a:r>
              <a:r>
                <a:rPr lang="en-US" sz="1600" b="0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0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게임</a:t>
              </a:r>
              <a:r>
                <a:rPr lang="en-US" sz="1600" b="0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0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전체</a:t>
              </a:r>
              <a:r>
                <a:rPr lang="en-US" sz="1600" b="0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0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흐름</a:t>
              </a:r>
              <a:r>
                <a:rPr lang="en-US" sz="1600" b="0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0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관리</a:t>
              </a:r>
            </a:p>
          </p:txBody>
        </p:sp>
        <p:pic>
          <p:nvPicPr>
            <p:cNvPr id="23" name="Picture 23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-10800000">
              <a:off x="1435100" y="3289300"/>
              <a:ext cx="355600" cy="698500"/>
            </a:xfrm>
            <a:prstGeom prst="rect">
              <a:avLst/>
            </a:prstGeom>
          </p:spPr>
        </p:pic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816100" y="3670300"/>
              <a:ext cx="1892300" cy="444500"/>
            </a:xfrm>
            <a:prstGeom prst="rect">
              <a:avLst/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2006600" y="3733800"/>
              <a:ext cx="1536700" cy="304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400" b="0" i="0" u="none" strike="noStrike" dirty="0">
                  <a:solidFill>
                    <a:srgbClr val="F8F8F8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ObjectManager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84600" y="3733800"/>
              <a:ext cx="3517900" cy="304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sz="1600" b="0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리소스</a:t>
              </a:r>
              <a:r>
                <a:rPr lang="en-US" sz="1600" b="0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0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로드</a:t>
              </a:r>
              <a:r>
                <a:rPr lang="en-US" sz="1600" b="0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+ </a:t>
              </a:r>
              <a:r>
                <a:rPr lang="ko-KR" sz="1600" b="0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오브젝트</a:t>
              </a:r>
              <a:r>
                <a:rPr lang="en-US" sz="1600" b="0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0" i="0" u="none" strike="noStrike" dirty="0" err="1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스폰</a:t>
              </a:r>
              <a:r>
                <a:rPr lang="en-US" sz="1600" b="0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</a:t>
              </a:r>
              <a:r>
                <a:rPr lang="ko-KR" sz="1600" b="0" i="0" u="none" strike="noStrike" dirty="0" err="1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디스폰</a:t>
              </a:r>
              <a:r>
                <a:rPr lang="en-US" sz="1600" b="0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0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관리</a:t>
              </a:r>
            </a:p>
          </p:txBody>
        </p:sp>
        <p:pic>
          <p:nvPicPr>
            <p:cNvPr id="27" name="Picture 27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-10800000">
              <a:off x="1435100" y="3746500"/>
              <a:ext cx="355600" cy="850900"/>
            </a:xfrm>
            <a:prstGeom prst="rect">
              <a:avLst/>
            </a:prstGeom>
          </p:spPr>
        </p:pic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816100" y="4267200"/>
              <a:ext cx="1892300" cy="444500"/>
            </a:xfrm>
            <a:prstGeom prst="rect">
              <a:avLst/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2108200" y="4330700"/>
              <a:ext cx="1320800" cy="304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400" b="0" i="0" u="none" strike="noStrike" dirty="0">
                  <a:solidFill>
                    <a:srgbClr val="F8F8F8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PoolManager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84600" y="4343400"/>
              <a:ext cx="2654300" cy="304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sz="1600" b="0" i="0" u="none" strike="noStrike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몬스터</a:t>
              </a:r>
              <a:r>
                <a:rPr lang="en-US" sz="1600" b="0" i="0" u="none" strike="noStrike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ko-KR" sz="1600" b="0" i="0" u="none" strike="noStrike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아이템</a:t>
              </a:r>
              <a:r>
                <a:rPr lang="en-US" sz="1600" b="0" i="0" u="none" strike="noStrike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0" i="0" u="none" strike="noStrike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오브젝트</a:t>
              </a:r>
              <a:r>
                <a:rPr lang="en-US" sz="1600" b="0" i="0" u="none" strike="noStrike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0" i="0" u="none" strike="noStrike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풀링</a:t>
              </a:r>
            </a:p>
          </p:txBody>
        </p:sp>
        <p:pic>
          <p:nvPicPr>
            <p:cNvPr id="31" name="Picture 3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-10800000">
              <a:off x="1435100" y="4406900"/>
              <a:ext cx="355600" cy="787400"/>
            </a:xfrm>
            <a:prstGeom prst="rect">
              <a:avLst/>
            </a:prstGeom>
          </p:spPr>
        </p:pic>
        <p:pic>
          <p:nvPicPr>
            <p:cNvPr id="32" name="Picture 3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816100" y="4889500"/>
              <a:ext cx="1892300" cy="444500"/>
            </a:xfrm>
            <a:prstGeom prst="rect">
              <a:avLst/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2133600" y="4965700"/>
              <a:ext cx="1257300" cy="304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400" b="0" i="0" u="none" strike="noStrike" dirty="0">
                  <a:solidFill>
                    <a:srgbClr val="F8F8F8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UI_Inventory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84600" y="4953000"/>
              <a:ext cx="2654300" cy="304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sz="1600" b="0" i="0" u="none" strike="noStrike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인벤토리</a:t>
              </a:r>
              <a:r>
                <a:rPr lang="en-US" sz="1600" b="0" i="0" u="none" strike="noStrike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0" i="0" u="none" strike="noStrike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시스템</a:t>
              </a:r>
              <a:r>
                <a:rPr lang="en-US" sz="1600" b="0" i="0" u="none" strike="noStrike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UI </a:t>
              </a:r>
              <a:r>
                <a:rPr lang="ko-KR" sz="1600" b="0" i="0" u="none" strike="noStrike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전역</a:t>
              </a:r>
              <a:r>
                <a:rPr lang="en-US" sz="1600" b="0" i="0" u="none" strike="noStrike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0" i="0" u="none" strike="noStrike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접근</a:t>
              </a:r>
            </a:p>
          </p:txBody>
        </p:sp>
        <p:pic>
          <p:nvPicPr>
            <p:cNvPr id="35" name="Picture 35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-10800000">
              <a:off x="1435100" y="4991100"/>
              <a:ext cx="355600" cy="812800"/>
            </a:xfrm>
            <a:prstGeom prst="rect">
              <a:avLst/>
            </a:prstGeom>
          </p:spPr>
        </p:pic>
        <p:pic>
          <p:nvPicPr>
            <p:cNvPr id="36" name="Picture 3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816100" y="5499100"/>
              <a:ext cx="1892300" cy="444500"/>
            </a:xfrm>
            <a:prstGeom prst="rect">
              <a:avLst/>
            </a:prstGeom>
          </p:spPr>
        </p:pic>
        <p:sp>
          <p:nvSpPr>
            <p:cNvPr id="37" name="TextBox 37"/>
            <p:cNvSpPr txBox="1"/>
            <p:nvPr/>
          </p:nvSpPr>
          <p:spPr>
            <a:xfrm>
              <a:off x="2349500" y="5562600"/>
              <a:ext cx="850900" cy="304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400" b="0" i="0" u="none" strike="noStrike" dirty="0">
                  <a:solidFill>
                    <a:srgbClr val="F8F8F8"/>
                  </a:solidFill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UI_Shop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784600" y="5562600"/>
              <a:ext cx="1536700" cy="304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sz="1600" b="0" i="0" u="none" strike="noStrike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상점</a:t>
              </a:r>
              <a:r>
                <a:rPr lang="en-US" sz="1600" b="0" i="0" u="none" strike="noStrike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UI </a:t>
              </a:r>
              <a:r>
                <a:rPr lang="ko-KR" sz="1600" b="0" i="0" u="none" strike="noStrike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전역</a:t>
              </a:r>
              <a:r>
                <a:rPr lang="en-US" sz="1600" b="0" i="0" u="none" strike="noStrike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0" i="0" u="none" strike="noStrike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접근</a:t>
              </a:r>
            </a:p>
          </p:txBody>
        </p:sp>
      </p:grpSp>
      <p:sp>
        <p:nvSpPr>
          <p:cNvPr id="39" name="슬라이드 번호 개체 틀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FantasyRPG PortFolio </a:t>
            </a:r>
            <a:fld id="{B6F15528-21DE-4FAA-801E-634DDDAF4B2B}" type="slidenum">
              <a:rPr lang="en-US" smtClean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pPr/>
              <a:t>13</a:t>
            </a:fld>
            <a:endParaRPr lang="en-US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43" name="TextBox 6"/>
          <p:cNvSpPr txBox="1"/>
          <p:nvPr/>
        </p:nvSpPr>
        <p:spPr>
          <a:xfrm>
            <a:off x="1244600" y="939800"/>
            <a:ext cx="8636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5000" b="0" i="0" u="none" strike="noStrike" spc="-200" dirty="0" smtClean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04</a:t>
            </a:r>
            <a:endParaRPr lang="en-US" sz="5000" b="0" i="0" u="none" strike="noStrike" spc="-200" dirty="0">
              <a:solidFill>
                <a:srgbClr val="404040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44" name="TextBox 7"/>
          <p:cNvSpPr txBox="1"/>
          <p:nvPr/>
        </p:nvSpPr>
        <p:spPr>
          <a:xfrm>
            <a:off x="2286000" y="1066800"/>
            <a:ext cx="70104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r>
              <a:rPr lang="ko-KR" altLang="en-US" sz="3600" dirty="0" smtClean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구조 설계 및 최적화</a:t>
            </a:r>
            <a:endParaRPr lang="ko-KR" altLang="ko-KR" sz="3600" dirty="0">
              <a:solidFill>
                <a:srgbClr val="404040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45" name="TextBox 11"/>
          <p:cNvSpPr txBox="1"/>
          <p:nvPr/>
        </p:nvSpPr>
        <p:spPr>
          <a:xfrm>
            <a:off x="2286000" y="1524000"/>
            <a:ext cx="65278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ko-KR" altLang="en-US" b="1" spc="-100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전역 구조 설계 </a:t>
            </a:r>
            <a:r>
              <a:rPr lang="en-US" altLang="ko-KR" b="1" spc="-100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b="1" spc="-100" dirty="0" err="1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싱글톤</a:t>
            </a:r>
            <a:r>
              <a:rPr lang="ko-KR" altLang="en-US" b="1" spc="-100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기반 매니저 시스템</a:t>
            </a:r>
            <a:endParaRPr lang="ko-KR" altLang="ko-KR" b="1" spc="-100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" y="749300"/>
            <a:ext cx="16090900" cy="101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092200" y="9436100"/>
            <a:ext cx="16090900" cy="1016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9474200" y="1028137"/>
            <a:ext cx="10033000" cy="1270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반복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생성되는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오브젝트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sz="2000" b="1" i="0" u="none" strike="noStrike" dirty="0" err="1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슬라임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골드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sz="2000" b="1" i="0" u="none" strike="noStrike" dirty="0" err="1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효율적으로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관리하기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위해</a:t>
            </a:r>
            <a:r>
              <a:rPr lang="en-US" altLang="ko-KR" sz="2000" b="1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br>
              <a:rPr lang="en-US" altLang="ko-KR" sz="2000" b="1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sz="20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오브젝트</a:t>
            </a:r>
            <a:r>
              <a:rPr lang="en-US" sz="20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u="none" strike="noStrike" dirty="0" err="1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풀링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(Pooling) </a:t>
            </a:r>
            <a:r>
              <a:rPr lang="ko-KR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구조를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적용했습니다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342900" lvl="0" indent="-342900" algn="l">
              <a:lnSpc>
                <a:spcPct val="99600"/>
              </a:lnSpc>
              <a:buFont typeface="Arial" panose="020B0604020202020204" pitchFamily="34" charset="0"/>
              <a:buChar char="•"/>
            </a:pPr>
            <a:r>
              <a:rPr lang="ko-KR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모든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반복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생성되는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오브젝트들은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PoolManager, ObjectManager</a:t>
            </a:r>
            <a:r>
              <a:rPr lang="ko-KR" sz="2000" b="1" i="0" u="none" strike="noStrike" dirty="0" err="1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en-US" altLang="ko-KR" sz="2000" b="1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br>
              <a:rPr lang="en-US" altLang="ko-KR" sz="2000" b="1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sz="20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통해</a:t>
            </a:r>
            <a:r>
              <a:rPr lang="en-US" sz="20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u="none" strike="noStrike" dirty="0" err="1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재사용성과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유지보수성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최적화가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가능합니다</a:t>
            </a:r>
            <a:r>
              <a:rPr lang="en-US" sz="2000" b="1" i="0" u="none" strike="noStrike" dirty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grpSp>
        <p:nvGrpSpPr>
          <p:cNvPr id="11" name="그룹 10"/>
          <p:cNvGrpSpPr/>
          <p:nvPr/>
        </p:nvGrpSpPr>
        <p:grpSpPr>
          <a:xfrm>
            <a:off x="2108200" y="2619935"/>
            <a:ext cx="7115736" cy="4964206"/>
            <a:chOff x="1498600" y="2541494"/>
            <a:chExt cx="7115736" cy="4964206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98600" y="2809687"/>
              <a:ext cx="6769100" cy="2030133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98600" y="4876800"/>
              <a:ext cx="6769100" cy="26289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1498600" y="2541494"/>
              <a:ext cx="7115736" cy="29359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SpawningPool.cs - </a:t>
              </a:r>
              <a:r>
                <a:rPr lang="ko-KR" sz="1600" b="1" i="0" u="none" strike="noStrike" dirty="0" err="1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슬라임을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주기적으로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 err="1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스폰하며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죽은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 err="1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슬라임은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일정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시간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뒤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재사용</a:t>
              </a:r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9596718" y="2619935"/>
            <a:ext cx="6557682" cy="4967194"/>
            <a:chOff x="8885518" y="2538506"/>
            <a:chExt cx="6557682" cy="4967194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90000" y="2806700"/>
              <a:ext cx="6553200" cy="469900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8885518" y="2538506"/>
              <a:ext cx="5930900" cy="2921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GoldSpawn.cs - </a:t>
              </a:r>
              <a:r>
                <a:rPr lang="ko-KR" sz="1600" b="1" i="0" u="none" strike="noStrike" dirty="0" err="1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드랍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골드를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오브젝트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풀에서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재사용</a:t>
              </a:r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2108200" y="7677151"/>
            <a:ext cx="6769100" cy="1606549"/>
            <a:chOff x="647700" y="7677151"/>
            <a:chExt cx="6769100" cy="1606549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7700" y="7924800"/>
              <a:ext cx="6769100" cy="1358900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647700" y="7677151"/>
              <a:ext cx="6172200" cy="2921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Extension.cs -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자주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쓰이는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컴포넌트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접근을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간단하게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처리하는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 err="1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헬퍼</a:t>
              </a:r>
              <a:r>
                <a:rPr lang="en-US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 dirty="0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함수</a:t>
              </a: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9601200" y="7683500"/>
            <a:ext cx="6553200" cy="1600200"/>
            <a:chOff x="8890000" y="7683500"/>
            <a:chExt cx="6553200" cy="160020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890000" y="7924800"/>
              <a:ext cx="6553200" cy="1358900"/>
            </a:xfrm>
            <a:prstGeom prst="rect">
              <a:avLst/>
            </a:prstGeom>
          </p:spPr>
        </p:pic>
        <p:sp>
          <p:nvSpPr>
            <p:cNvPr id="17" name="TextBox 17"/>
            <p:cNvSpPr txBox="1"/>
            <p:nvPr/>
          </p:nvSpPr>
          <p:spPr>
            <a:xfrm>
              <a:off x="8890000" y="7683500"/>
              <a:ext cx="5930900" cy="2921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-US" sz="1600" b="1" i="0" u="none" strike="noStrike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Define.cs - Animator </a:t>
              </a:r>
              <a:r>
                <a:rPr lang="ko-KR" sz="1600" b="1" i="0" u="none" strike="noStrike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해시</a:t>
              </a:r>
              <a:r>
                <a:rPr lang="en-US" sz="1600" b="1" i="0" u="none" strike="noStrike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ko-KR" sz="1600" b="1" i="0" u="none" strike="noStrike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프리팹</a:t>
              </a:r>
              <a:r>
                <a:rPr lang="en-US" sz="1600" b="1" i="0" u="none" strike="noStrike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경로</a:t>
              </a:r>
              <a:r>
                <a:rPr lang="en-US" sz="1600" b="1" i="0" u="none" strike="noStrike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ko-KR" sz="1600" b="1" i="0" u="none" strike="noStrike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태그</a:t>
              </a:r>
              <a:r>
                <a:rPr lang="en-US" sz="1600" b="1" i="0" u="none" strike="noStrike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등을</a:t>
              </a:r>
              <a:r>
                <a:rPr lang="en-US" sz="1600" b="1" i="0" u="none" strike="noStrike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상수로</a:t>
              </a:r>
              <a:r>
                <a:rPr lang="en-US" sz="1600" b="1" i="0" u="none" strike="noStrike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sz="1600" b="1" i="0" u="none" strike="noStrike">
                  <a:solidFill>
                    <a:srgbClr val="4040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관리</a:t>
              </a:r>
            </a:p>
          </p:txBody>
        </p:sp>
      </p:grp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FantasyRPG PortFolio </a:t>
            </a:r>
            <a:fld id="{B6F15528-21DE-4FAA-801E-634DDDAF4B2B}" type="slidenum">
              <a:rPr lang="en-US" smtClean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pPr/>
              <a:t>14</a:t>
            </a:fld>
            <a:endParaRPr lang="en-US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1244600" y="939800"/>
            <a:ext cx="8636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5000" b="0" i="0" u="none" strike="noStrike" spc="-200" dirty="0" smtClean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04</a:t>
            </a:r>
            <a:endParaRPr lang="en-US" sz="5000" b="0" i="0" u="none" strike="noStrike" spc="-200" dirty="0">
              <a:solidFill>
                <a:srgbClr val="404040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27" name="TextBox 7"/>
          <p:cNvSpPr txBox="1"/>
          <p:nvPr/>
        </p:nvSpPr>
        <p:spPr>
          <a:xfrm>
            <a:off x="2286000" y="1066800"/>
            <a:ext cx="70104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r>
              <a:rPr lang="ko-KR" altLang="en-US" sz="3600" dirty="0" smtClean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구조 설계 및 최적화</a:t>
            </a:r>
            <a:endParaRPr lang="ko-KR" altLang="ko-KR" sz="3600" dirty="0">
              <a:solidFill>
                <a:srgbClr val="404040"/>
              </a:solidFill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  <p:sp>
        <p:nvSpPr>
          <p:cNvPr id="28" name="TextBox 11"/>
          <p:cNvSpPr txBox="1"/>
          <p:nvPr/>
        </p:nvSpPr>
        <p:spPr>
          <a:xfrm>
            <a:off x="2286000" y="1524000"/>
            <a:ext cx="65278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ko-KR" altLang="en-US" b="1" spc="-100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성능 최적화를 위한 오브젝트 </a:t>
            </a:r>
            <a:r>
              <a:rPr lang="ko-KR" altLang="en-US" b="1" spc="-100" dirty="0" err="1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풀링</a:t>
            </a:r>
            <a:r>
              <a:rPr lang="ko-KR" altLang="en-US" b="1" spc="-100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b="1" spc="-100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&amp; </a:t>
            </a:r>
            <a:r>
              <a:rPr lang="ko-KR" altLang="en-US" b="1" spc="-100" dirty="0" err="1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유틸</a:t>
            </a:r>
            <a:r>
              <a:rPr lang="ko-KR" altLang="en-US" b="1" spc="-100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구조</a:t>
            </a:r>
            <a:endParaRPr lang="ko-KR" altLang="ko-KR" b="1" spc="-100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749300"/>
            <a:ext cx="16090900" cy="101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92200" y="9436100"/>
            <a:ext cx="16090900" cy="101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981700" y="3822700"/>
            <a:ext cx="6337300" cy="128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10000" b="0" i="0" u="none" strike="noStrike" spc="-3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감사합니다</a:t>
            </a:r>
            <a:r>
              <a:rPr lang="en-US" sz="10000" b="0" i="0" u="none" strike="noStrike" spc="-300" dirty="0">
                <a:solidFill>
                  <a:srgbClr val="404040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45350" y="8382000"/>
            <a:ext cx="37973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5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게임 개발자</a:t>
            </a:r>
            <a:r>
              <a:rPr lang="en-US" sz="2500" b="1" i="0" u="none" strike="noStrike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sz="2500" b="1" i="0" u="none" strike="noStrike" dirty="0" err="1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유예원</a:t>
            </a:r>
            <a:endParaRPr lang="en-US" altLang="ko-KR" sz="2500" b="1" i="0" u="none" strike="noStrike" dirty="0" smtClean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0" algn="ctr">
              <a:lnSpc>
                <a:spcPct val="99600"/>
              </a:lnSpc>
            </a:pPr>
            <a:r>
              <a:rPr lang="en-US" altLang="ko-KR" sz="2500" b="1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FantasyRPG </a:t>
            </a:r>
            <a:r>
              <a:rPr lang="ko-KR" altLang="en-US" sz="2500" b="1" dirty="0" smtClean="0">
                <a:solidFill>
                  <a:srgbClr val="4040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포트폴리오</a:t>
            </a:r>
            <a:endParaRPr lang="ko-KR" sz="2500" b="1" i="0" u="none" strike="noStrike" dirty="0">
              <a:solidFill>
                <a:srgbClr val="4040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FantasyRPG PortFolio </a:t>
            </a:r>
            <a:fld id="{B6F15528-21DE-4FAA-801E-634DDDAF4B2B}" type="slidenum">
              <a:rPr lang="en-US" smtClean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pPr/>
              <a:t>15</a:t>
            </a:fld>
            <a:endParaRPr lang="en-US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Pages>15</Pages>
  <Words>882</Words>
  <Characters>0</Characters>
  <Application>Microsoft Office PowerPoint</Application>
  <DocSecurity>0</DocSecurity>
  <PresentationFormat>사용자 지정</PresentationFormat>
  <Lines>0</Lines>
  <Paragraphs>143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3" baseType="lpstr">
      <vt:lpstr>Pretendard</vt:lpstr>
      <vt:lpstr>Pretendard Bold</vt:lpstr>
      <vt:lpstr>Arial</vt:lpstr>
      <vt:lpstr>Calibri</vt:lpstr>
      <vt:lpstr>맑은 고딕</vt:lpstr>
      <vt:lpstr>Pretendard Black</vt:lpstr>
      <vt:lpstr>Pretendard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admin</cp:lastModifiedBy>
  <cp:revision>33</cp:revision>
  <dcterms:modified xsi:type="dcterms:W3CDTF">2025-06-18T06:39:30Z</dcterms:modified>
  <cp:version>10.105.277.55893</cp:version>
</cp:coreProperties>
</file>